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8288000" cy="10287000"/>
  <p:notesSz cx="6858000" cy="9144000"/>
  <p:embeddedFontLst>
    <p:embeddedFont>
      <p:font typeface="Canva Sans Bold" panose="020B0604020202020204" charset="0"/>
      <p:regular r:id="rId17"/>
    </p:embeddedFont>
    <p:embeddedFont>
      <p:font typeface="DM Sans" pitchFamily="2" charset="0"/>
      <p:regular r:id="rId18"/>
    </p:embeddedFont>
    <p:embeddedFont>
      <p:font typeface="DM Sans Bold" charset="0"/>
      <p:regular r:id="rId19"/>
    </p:embeddedFont>
    <p:embeddedFont>
      <p:font typeface="Open Sans Bold" panose="020B0604020202020204" charset="0"/>
      <p:regular r:id="rId20"/>
    </p:embeddedFont>
    <p:embeddedFont>
      <p:font typeface="Open Sans Light" panose="020B0306030504020204" pitchFamily="34" charset="0"/>
      <p:regular r:id="rId21"/>
    </p:embeddedFont>
    <p:embeddedFont>
      <p:font typeface="Poppins" panose="00000500000000000000" pitchFamily="2" charset="0"/>
      <p:regular r:id="rId22"/>
    </p:embeddedFont>
    <p:embeddedFont>
      <p:font typeface="Poppins Bold" panose="020B0604020202020204" charset="0"/>
      <p:regular r:id="rId23"/>
    </p:embeddedFont>
    <p:embeddedFont>
      <p:font typeface="Poppins Semi-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p:scale>
          <a:sx n="33" d="100"/>
          <a:sy n="33" d="100"/>
        </p:scale>
        <p:origin x="1954" y="68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mpreeth Chirla" userId="a8daca17ade453e3" providerId="LiveId" clId="{4B1358D0-945D-4C73-8181-46DB0EEB22C7}"/>
    <pc:docChg chg="undo custSel modSld">
      <pc:chgData name="Sampreeth Chirla" userId="a8daca17ade453e3" providerId="LiveId" clId="{4B1358D0-945D-4C73-8181-46DB0EEB22C7}" dt="2025-09-20T04:42:05.559" v="16" actId="1035"/>
      <pc:docMkLst>
        <pc:docMk/>
      </pc:docMkLst>
      <pc:sldChg chg="modSp mod">
        <pc:chgData name="Sampreeth Chirla" userId="a8daca17ade453e3" providerId="LiveId" clId="{4B1358D0-945D-4C73-8181-46DB0EEB22C7}" dt="2025-09-20T04:42:05.559" v="16" actId="1035"/>
        <pc:sldMkLst>
          <pc:docMk/>
          <pc:sldMk cId="0" sldId="256"/>
        </pc:sldMkLst>
        <pc:grpChg chg="mod">
          <ac:chgData name="Sampreeth Chirla" userId="a8daca17ade453e3" providerId="LiveId" clId="{4B1358D0-945D-4C73-8181-46DB0EEB22C7}" dt="2025-09-20T04:42:05.559" v="16" actId="1035"/>
          <ac:grpSpMkLst>
            <pc:docMk/>
            <pc:sldMk cId="0" sldId="256"/>
            <ac:grpSpMk id="3" creationId="{00000000-0000-0000-0000-000000000000}"/>
          </ac:grpSpMkLst>
        </pc:gr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9/20/2025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9/20/2025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9/20/2025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9/20/2025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9/20/2025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9/20/2025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101622" y="-767350"/>
            <a:ext cx="22013892" cy="12354774"/>
          </a:xfrm>
          <a:custGeom>
            <a:avLst/>
            <a:gdLst/>
            <a:ahLst/>
            <a:cxnLst/>
            <a:rect l="l" t="t" r="r" b="b"/>
            <a:pathLst>
              <a:path w="22013892" h="12354774">
                <a:moveTo>
                  <a:pt x="0" y="0"/>
                </a:moveTo>
                <a:lnTo>
                  <a:pt x="22013891" y="0"/>
                </a:lnTo>
                <a:lnTo>
                  <a:pt x="22013891" y="12354775"/>
                </a:lnTo>
                <a:lnTo>
                  <a:pt x="0" y="12354775"/>
                </a:lnTo>
                <a:lnTo>
                  <a:pt x="0" y="0"/>
                </a:lnTo>
                <a:close/>
              </a:path>
            </a:pathLst>
          </a:custGeom>
          <a:blipFill>
            <a:blip r:embed="rId2"/>
            <a:stretch>
              <a:fillRect t="-9467" b="-9467"/>
            </a:stretch>
          </a:blipFill>
        </p:spPr>
      </p:sp>
      <p:grpSp>
        <p:nvGrpSpPr>
          <p:cNvPr id="3" name="Group 3"/>
          <p:cNvGrpSpPr/>
          <p:nvPr/>
        </p:nvGrpSpPr>
        <p:grpSpPr>
          <a:xfrm>
            <a:off x="-2133600" y="-647700"/>
            <a:ext cx="22453902" cy="11711713"/>
            <a:chOff x="0" y="0"/>
            <a:chExt cx="5913785" cy="3084566"/>
          </a:xfrm>
        </p:grpSpPr>
        <p:sp>
          <p:nvSpPr>
            <p:cNvPr id="4" name="Freeform 4"/>
            <p:cNvSpPr/>
            <p:nvPr/>
          </p:nvSpPr>
          <p:spPr>
            <a:xfrm>
              <a:off x="0" y="0"/>
              <a:ext cx="5913785" cy="3084567"/>
            </a:xfrm>
            <a:custGeom>
              <a:avLst/>
              <a:gdLst/>
              <a:ahLst/>
              <a:cxnLst/>
              <a:rect l="l" t="t" r="r" b="b"/>
              <a:pathLst>
                <a:path w="5913785" h="3084567">
                  <a:moveTo>
                    <a:pt x="0" y="0"/>
                  </a:moveTo>
                  <a:lnTo>
                    <a:pt x="5913785" y="0"/>
                  </a:lnTo>
                  <a:lnTo>
                    <a:pt x="5913785" y="3084567"/>
                  </a:lnTo>
                  <a:lnTo>
                    <a:pt x="0" y="3084567"/>
                  </a:lnTo>
                  <a:close/>
                </a:path>
              </a:pathLst>
            </a:custGeom>
            <a:solidFill>
              <a:srgbClr val="AAD7D4">
                <a:alpha val="28627"/>
              </a:srgbClr>
            </a:solidFill>
          </p:spPr>
        </p:sp>
        <p:sp>
          <p:nvSpPr>
            <p:cNvPr id="5" name="TextBox 5"/>
            <p:cNvSpPr txBox="1"/>
            <p:nvPr/>
          </p:nvSpPr>
          <p:spPr>
            <a:xfrm>
              <a:off x="0" y="-38100"/>
              <a:ext cx="5913785" cy="3122666"/>
            </a:xfrm>
            <a:prstGeom prst="rect">
              <a:avLst/>
            </a:prstGeom>
          </p:spPr>
          <p:txBody>
            <a:bodyPr lIns="50800" tIns="50800" rIns="50800" bIns="50800" rtlCol="0" anchor="ctr"/>
            <a:lstStyle/>
            <a:p>
              <a:pPr algn="ctr">
                <a:lnSpc>
                  <a:spcPts val="2659"/>
                </a:lnSpc>
              </a:pPr>
              <a:endParaRPr/>
            </a:p>
          </p:txBody>
        </p:sp>
      </p:grpSp>
      <p:grpSp>
        <p:nvGrpSpPr>
          <p:cNvPr id="6" name="Group 6"/>
          <p:cNvGrpSpPr/>
          <p:nvPr/>
        </p:nvGrpSpPr>
        <p:grpSpPr>
          <a:xfrm>
            <a:off x="5652409" y="7494956"/>
            <a:ext cx="6983181" cy="1283779"/>
            <a:chOff x="0" y="0"/>
            <a:chExt cx="1839192" cy="338115"/>
          </a:xfrm>
        </p:grpSpPr>
        <p:sp>
          <p:nvSpPr>
            <p:cNvPr id="7" name="Freeform 7"/>
            <p:cNvSpPr/>
            <p:nvPr/>
          </p:nvSpPr>
          <p:spPr>
            <a:xfrm>
              <a:off x="0" y="0"/>
              <a:ext cx="1839192" cy="338115"/>
            </a:xfrm>
            <a:custGeom>
              <a:avLst/>
              <a:gdLst/>
              <a:ahLst/>
              <a:cxnLst/>
              <a:rect l="l" t="t" r="r" b="b"/>
              <a:pathLst>
                <a:path w="1839192" h="338115">
                  <a:moveTo>
                    <a:pt x="0" y="0"/>
                  </a:moveTo>
                  <a:lnTo>
                    <a:pt x="1839192" y="0"/>
                  </a:lnTo>
                  <a:lnTo>
                    <a:pt x="1839192" y="338115"/>
                  </a:lnTo>
                  <a:lnTo>
                    <a:pt x="0" y="338115"/>
                  </a:lnTo>
                  <a:close/>
                </a:path>
              </a:pathLst>
            </a:custGeom>
            <a:solidFill>
              <a:srgbClr val="AAD7D4"/>
            </a:solidFill>
            <a:ln w="28575" cap="sq">
              <a:solidFill>
                <a:srgbClr val="1C2120"/>
              </a:solidFill>
              <a:prstDash val="solid"/>
              <a:miter/>
            </a:ln>
          </p:spPr>
        </p:sp>
        <p:sp>
          <p:nvSpPr>
            <p:cNvPr id="8" name="TextBox 8"/>
            <p:cNvSpPr txBox="1"/>
            <p:nvPr/>
          </p:nvSpPr>
          <p:spPr>
            <a:xfrm>
              <a:off x="0" y="-85725"/>
              <a:ext cx="1839192" cy="423840"/>
            </a:xfrm>
            <a:prstGeom prst="rect">
              <a:avLst/>
            </a:prstGeom>
          </p:spPr>
          <p:txBody>
            <a:bodyPr lIns="50800" tIns="50800" rIns="50800" bIns="50800" rtlCol="0" anchor="ctr"/>
            <a:lstStyle/>
            <a:p>
              <a:pPr algn="ctr">
                <a:lnSpc>
                  <a:spcPts val="2939"/>
                </a:lnSpc>
              </a:pPr>
              <a:r>
                <a:rPr lang="en-US" sz="2099">
                  <a:solidFill>
                    <a:srgbClr val="000000"/>
                  </a:solidFill>
                  <a:latin typeface="Times New Roman"/>
                  <a:ea typeface="Times New Roman"/>
                  <a:cs typeface="Times New Roman"/>
                  <a:sym typeface="Times New Roman"/>
                </a:rPr>
                <a:t>TEAM - 29  REVIEW 2</a:t>
              </a:r>
            </a:p>
            <a:p>
              <a:pPr algn="ctr">
                <a:lnSpc>
                  <a:spcPts val="2939"/>
                </a:lnSpc>
              </a:pPr>
              <a:r>
                <a:rPr lang="en-US" sz="2099">
                  <a:solidFill>
                    <a:srgbClr val="000000"/>
                  </a:solidFill>
                  <a:latin typeface="Times New Roman"/>
                  <a:ea typeface="Times New Roman"/>
                  <a:cs typeface="Times New Roman"/>
                  <a:sym typeface="Times New Roman"/>
                </a:rPr>
                <a:t>TITLE: INTERNET OF THINGS</a:t>
              </a:r>
            </a:p>
            <a:p>
              <a:pPr algn="ctr">
                <a:lnSpc>
                  <a:spcPts val="2939"/>
                </a:lnSpc>
              </a:pPr>
              <a:r>
                <a:rPr lang="en-US" sz="2099">
                  <a:solidFill>
                    <a:srgbClr val="000000"/>
                  </a:solidFill>
                  <a:latin typeface="Times New Roman"/>
                  <a:ea typeface="Times New Roman"/>
                  <a:cs typeface="Times New Roman"/>
                  <a:sym typeface="Times New Roman"/>
                </a:rPr>
                <a:t>CHALLENGE: TASK SCHEDULING</a:t>
              </a:r>
            </a:p>
          </p:txBody>
        </p:sp>
      </p:grpSp>
      <p:sp>
        <p:nvSpPr>
          <p:cNvPr id="9" name="TextBox 9"/>
          <p:cNvSpPr txBox="1"/>
          <p:nvPr/>
        </p:nvSpPr>
        <p:spPr>
          <a:xfrm>
            <a:off x="262724" y="3930637"/>
            <a:ext cx="18025276" cy="2357190"/>
          </a:xfrm>
          <a:prstGeom prst="rect">
            <a:avLst/>
          </a:prstGeom>
        </p:spPr>
        <p:txBody>
          <a:bodyPr lIns="0" tIns="0" rIns="0" bIns="0" rtlCol="0" anchor="t">
            <a:spAutoFit/>
          </a:bodyPr>
          <a:lstStyle/>
          <a:p>
            <a:pPr algn="ctr">
              <a:lnSpc>
                <a:spcPts val="8482"/>
              </a:lnSpc>
            </a:pPr>
            <a:r>
              <a:rPr lang="en-US" sz="10098" b="1" spc="-545">
                <a:solidFill>
                  <a:srgbClr val="1C2120"/>
                </a:solidFill>
                <a:latin typeface="Poppins Semi-Bold"/>
                <a:ea typeface="Poppins Semi-Bold"/>
                <a:cs typeface="Poppins Semi-Bold"/>
                <a:sym typeface="Poppins Semi-Bold"/>
              </a:rPr>
              <a:t>SMART TRAFFIC MANAGEMENT</a:t>
            </a:r>
          </a:p>
          <a:p>
            <a:pPr algn="ctr">
              <a:lnSpc>
                <a:spcPts val="8482"/>
              </a:lnSpc>
            </a:pPr>
            <a:r>
              <a:rPr lang="en-US" sz="10098" b="1" spc="-545">
                <a:solidFill>
                  <a:srgbClr val="1C2120"/>
                </a:solidFill>
                <a:latin typeface="Poppins Semi-Bold"/>
                <a:ea typeface="Poppins Semi-Bold"/>
                <a:cs typeface="Poppins Semi-Bold"/>
                <a:sym typeface="Poppins Semi-Bold"/>
              </a:rPr>
              <a:t>EDGE CLOUD IOT BASED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14350" y="-48661"/>
            <a:ext cx="3905464" cy="10601584"/>
            <a:chOff x="0" y="0"/>
            <a:chExt cx="1028599" cy="2792187"/>
          </a:xfrm>
        </p:grpSpPr>
        <p:sp>
          <p:nvSpPr>
            <p:cNvPr id="3" name="Freeform 3"/>
            <p:cNvSpPr/>
            <p:nvPr/>
          </p:nvSpPr>
          <p:spPr>
            <a:xfrm>
              <a:off x="0" y="0"/>
              <a:ext cx="1028599" cy="2792187"/>
            </a:xfrm>
            <a:custGeom>
              <a:avLst/>
              <a:gdLst/>
              <a:ahLst/>
              <a:cxnLst/>
              <a:rect l="l" t="t" r="r" b="b"/>
              <a:pathLst>
                <a:path w="1028599" h="2792187">
                  <a:moveTo>
                    <a:pt x="0" y="0"/>
                  </a:moveTo>
                  <a:lnTo>
                    <a:pt x="1028599" y="0"/>
                  </a:lnTo>
                  <a:lnTo>
                    <a:pt x="1028599" y="2792187"/>
                  </a:lnTo>
                  <a:lnTo>
                    <a:pt x="0" y="2792187"/>
                  </a:lnTo>
                  <a:close/>
                </a:path>
              </a:pathLst>
            </a:custGeom>
            <a:solidFill>
              <a:srgbClr val="AAD7D4">
                <a:alpha val="55686"/>
              </a:srgbClr>
            </a:solidFill>
          </p:spPr>
        </p:sp>
        <p:sp>
          <p:nvSpPr>
            <p:cNvPr id="4" name="TextBox 4"/>
            <p:cNvSpPr txBox="1"/>
            <p:nvPr/>
          </p:nvSpPr>
          <p:spPr>
            <a:xfrm>
              <a:off x="0" y="-38100"/>
              <a:ext cx="1028599" cy="2830287"/>
            </a:xfrm>
            <a:prstGeom prst="rect">
              <a:avLst/>
            </a:prstGeom>
          </p:spPr>
          <p:txBody>
            <a:bodyPr lIns="50800" tIns="50800" rIns="50800" bIns="50800" rtlCol="0" anchor="ctr"/>
            <a:lstStyle/>
            <a:p>
              <a:pPr algn="ctr">
                <a:lnSpc>
                  <a:spcPts val="2659"/>
                </a:lnSpc>
              </a:pPr>
              <a:endParaRPr/>
            </a:p>
          </p:txBody>
        </p:sp>
      </p:grpSp>
      <p:sp>
        <p:nvSpPr>
          <p:cNvPr id="5" name="TextBox 5"/>
          <p:cNvSpPr txBox="1"/>
          <p:nvPr/>
        </p:nvSpPr>
        <p:spPr>
          <a:xfrm>
            <a:off x="1706226" y="1398418"/>
            <a:ext cx="13764640" cy="828238"/>
          </a:xfrm>
          <a:prstGeom prst="rect">
            <a:avLst/>
          </a:prstGeom>
        </p:spPr>
        <p:txBody>
          <a:bodyPr lIns="0" tIns="0" rIns="0" bIns="0" rtlCol="0" anchor="t">
            <a:spAutoFit/>
          </a:bodyPr>
          <a:lstStyle/>
          <a:p>
            <a:pPr algn="ctr">
              <a:lnSpc>
                <a:spcPts val="6849"/>
              </a:lnSpc>
              <a:spcBef>
                <a:spcPct val="0"/>
              </a:spcBef>
            </a:pPr>
            <a:r>
              <a:rPr lang="en-US" sz="4892" b="1" u="sng">
                <a:solidFill>
                  <a:srgbClr val="000000"/>
                </a:solidFill>
                <a:latin typeface="Open Sans Bold"/>
                <a:ea typeface="Open Sans Bold"/>
                <a:cs typeface="Open Sans Bold"/>
                <a:sym typeface="Open Sans Bold"/>
              </a:rPr>
              <a:t>IMPLEMENTATION</a:t>
            </a:r>
            <a:r>
              <a:rPr lang="en-US" sz="4892" u="sng">
                <a:solidFill>
                  <a:srgbClr val="000000"/>
                </a:solidFill>
                <a:latin typeface="Open Sans Light"/>
                <a:ea typeface="Open Sans Light"/>
                <a:cs typeface="Open Sans Light"/>
                <a:sym typeface="Open Sans Light"/>
              </a:rPr>
              <a:t> </a:t>
            </a:r>
            <a:r>
              <a:rPr lang="en-US" sz="4892" b="1" u="sng">
                <a:solidFill>
                  <a:srgbClr val="000000"/>
                </a:solidFill>
                <a:latin typeface="Open Sans Bold"/>
                <a:ea typeface="Open Sans Bold"/>
                <a:cs typeface="Open Sans Bold"/>
                <a:sym typeface="Open Sans Bold"/>
              </a:rPr>
              <a:t>STRATEGY :</a:t>
            </a:r>
          </a:p>
        </p:txBody>
      </p:sp>
      <p:sp>
        <p:nvSpPr>
          <p:cNvPr id="6" name="TextBox 6"/>
          <p:cNvSpPr txBox="1"/>
          <p:nvPr/>
        </p:nvSpPr>
        <p:spPr>
          <a:xfrm>
            <a:off x="3757539" y="200462"/>
            <a:ext cx="13764640" cy="828238"/>
          </a:xfrm>
          <a:prstGeom prst="rect">
            <a:avLst/>
          </a:prstGeom>
        </p:spPr>
        <p:txBody>
          <a:bodyPr lIns="0" tIns="0" rIns="0" bIns="0" rtlCol="0" anchor="t">
            <a:spAutoFit/>
          </a:bodyPr>
          <a:lstStyle/>
          <a:p>
            <a:pPr algn="ctr">
              <a:lnSpc>
                <a:spcPts val="6849"/>
              </a:lnSpc>
              <a:spcBef>
                <a:spcPct val="0"/>
              </a:spcBef>
            </a:pPr>
            <a:r>
              <a:rPr lang="en-US" sz="4892" b="1" u="sng">
                <a:solidFill>
                  <a:srgbClr val="000000"/>
                </a:solidFill>
                <a:latin typeface="Open Sans Bold"/>
                <a:ea typeface="Open Sans Bold"/>
                <a:cs typeface="Open Sans Bold"/>
                <a:sym typeface="Open Sans Bold"/>
              </a:rPr>
              <a:t>UPDATES FROM REVIEW-1</a:t>
            </a:r>
          </a:p>
        </p:txBody>
      </p:sp>
      <p:sp>
        <p:nvSpPr>
          <p:cNvPr id="7" name="TextBox 7"/>
          <p:cNvSpPr txBox="1"/>
          <p:nvPr/>
        </p:nvSpPr>
        <p:spPr>
          <a:xfrm>
            <a:off x="4008926" y="2624950"/>
            <a:ext cx="13250374" cy="976631"/>
          </a:xfrm>
          <a:prstGeom prst="rect">
            <a:avLst/>
          </a:prstGeom>
        </p:spPr>
        <p:txBody>
          <a:bodyPr lIns="0" tIns="0" rIns="0" bIns="0" rtlCol="0" anchor="t">
            <a:spAutoFit/>
          </a:bodyPr>
          <a:lstStyle/>
          <a:p>
            <a:pPr algn="ctr">
              <a:lnSpc>
                <a:spcPts val="3919"/>
              </a:lnSpc>
            </a:pPr>
            <a:r>
              <a:rPr lang="en-US" sz="2799" b="1" u="sng">
                <a:solidFill>
                  <a:srgbClr val="000000"/>
                </a:solidFill>
                <a:latin typeface="DM Sans Bold"/>
                <a:ea typeface="DM Sans Bold"/>
                <a:cs typeface="DM Sans Bold"/>
                <a:sym typeface="DM Sans Bold"/>
              </a:rPr>
              <a:t>DATA SOURCE</a:t>
            </a:r>
            <a:r>
              <a:rPr lang="en-US" sz="2799">
                <a:solidFill>
                  <a:srgbClr val="000000"/>
                </a:solidFill>
                <a:latin typeface="DM Sans"/>
                <a:ea typeface="DM Sans"/>
                <a:cs typeface="DM Sans"/>
                <a:sym typeface="DM Sans"/>
              </a:rPr>
              <a:t>: Raw data collected from SUMO Simulator which generates traffic .</a:t>
            </a:r>
          </a:p>
        </p:txBody>
      </p:sp>
      <p:sp>
        <p:nvSpPr>
          <p:cNvPr id="8" name="TextBox 8"/>
          <p:cNvSpPr txBox="1"/>
          <p:nvPr/>
        </p:nvSpPr>
        <p:spPr>
          <a:xfrm>
            <a:off x="4014158" y="3473310"/>
            <a:ext cx="12140328" cy="481331"/>
          </a:xfrm>
          <a:prstGeom prst="rect">
            <a:avLst/>
          </a:prstGeom>
        </p:spPr>
        <p:txBody>
          <a:bodyPr lIns="0" tIns="0" rIns="0" bIns="0" rtlCol="0" anchor="t">
            <a:spAutoFit/>
          </a:bodyPr>
          <a:lstStyle/>
          <a:p>
            <a:pPr algn="ctr">
              <a:lnSpc>
                <a:spcPts val="3919"/>
              </a:lnSpc>
            </a:pPr>
            <a:r>
              <a:rPr lang="en-US" sz="2799" b="1" u="sng">
                <a:solidFill>
                  <a:srgbClr val="000000"/>
                </a:solidFill>
                <a:latin typeface="DM Sans Bold"/>
                <a:ea typeface="DM Sans Bold"/>
                <a:cs typeface="DM Sans Bold"/>
                <a:sym typeface="DM Sans Bold"/>
              </a:rPr>
              <a:t>Output </a:t>
            </a:r>
            <a:r>
              <a:rPr lang="en-US" sz="2799">
                <a:solidFill>
                  <a:srgbClr val="000000"/>
                </a:solidFill>
                <a:latin typeface="DM Sans"/>
                <a:ea typeface="DM Sans"/>
                <a:cs typeface="DM Sans"/>
                <a:sym typeface="DM Sans"/>
              </a:rPr>
              <a:t>: Vehicle Details such as vehicle speed, distance, GPS coordinates.</a:t>
            </a:r>
          </a:p>
        </p:txBody>
      </p:sp>
      <p:sp>
        <p:nvSpPr>
          <p:cNvPr id="9" name="TextBox 9"/>
          <p:cNvSpPr txBox="1"/>
          <p:nvPr/>
        </p:nvSpPr>
        <p:spPr>
          <a:xfrm>
            <a:off x="3927582" y="4471071"/>
            <a:ext cx="7318415" cy="481331"/>
          </a:xfrm>
          <a:prstGeom prst="rect">
            <a:avLst/>
          </a:prstGeom>
        </p:spPr>
        <p:txBody>
          <a:bodyPr lIns="0" tIns="0" rIns="0" bIns="0" rtlCol="0" anchor="t">
            <a:spAutoFit/>
          </a:bodyPr>
          <a:lstStyle/>
          <a:p>
            <a:pPr marL="604515" lvl="1" indent="-302257" algn="ctr">
              <a:lnSpc>
                <a:spcPts val="3919"/>
              </a:lnSpc>
              <a:buFont typeface="Arial"/>
              <a:buChar char="•"/>
            </a:pPr>
            <a:r>
              <a:rPr lang="en-US" sz="2799">
                <a:solidFill>
                  <a:srgbClr val="000000"/>
                </a:solidFill>
                <a:latin typeface="DM Sans"/>
                <a:ea typeface="DM Sans"/>
                <a:cs typeface="DM Sans"/>
                <a:sym typeface="DM Sans"/>
              </a:rPr>
              <a:t>The vehicle's details exported to CSV File</a:t>
            </a:r>
          </a:p>
        </p:txBody>
      </p:sp>
      <p:sp>
        <p:nvSpPr>
          <p:cNvPr id="10" name="TextBox 10"/>
          <p:cNvSpPr txBox="1"/>
          <p:nvPr/>
        </p:nvSpPr>
        <p:spPr>
          <a:xfrm>
            <a:off x="4358301" y="5478356"/>
            <a:ext cx="13163878" cy="1326187"/>
          </a:xfrm>
          <a:prstGeom prst="rect">
            <a:avLst/>
          </a:prstGeom>
        </p:spPr>
        <p:txBody>
          <a:bodyPr lIns="0" tIns="0" rIns="0" bIns="0" rtlCol="0" anchor="t">
            <a:spAutoFit/>
          </a:bodyPr>
          <a:lstStyle/>
          <a:p>
            <a:pPr algn="ctr">
              <a:lnSpc>
                <a:spcPts val="3553"/>
              </a:lnSpc>
              <a:spcBef>
                <a:spcPct val="0"/>
              </a:spcBef>
            </a:pPr>
            <a:r>
              <a:rPr lang="en-US" sz="2537" b="1" u="sng">
                <a:solidFill>
                  <a:srgbClr val="000000"/>
                </a:solidFill>
                <a:latin typeface="DM Sans Bold"/>
                <a:ea typeface="DM Sans Bold"/>
                <a:cs typeface="DM Sans Bold"/>
                <a:sym typeface="DM Sans Bold"/>
              </a:rPr>
              <a:t>Fuzzy Module</a:t>
            </a:r>
            <a:r>
              <a:rPr lang="en-US" sz="2537">
                <a:solidFill>
                  <a:srgbClr val="000000"/>
                </a:solidFill>
                <a:latin typeface="DM Sans"/>
                <a:ea typeface="DM Sans"/>
                <a:cs typeface="DM Sans"/>
                <a:sym typeface="DM Sans"/>
              </a:rPr>
              <a:t>: Provides a base green time for each traffic signal using membership functions and fuzzy rules based on vehicle speed and queue length, converting uncertain traffic conditions into a crisp initial green time.</a:t>
            </a:r>
          </a:p>
        </p:txBody>
      </p:sp>
      <p:sp>
        <p:nvSpPr>
          <p:cNvPr id="11" name="TextBox 11"/>
          <p:cNvSpPr txBox="1"/>
          <p:nvPr/>
        </p:nvSpPr>
        <p:spPr>
          <a:xfrm>
            <a:off x="4157903" y="7512918"/>
            <a:ext cx="14130097" cy="1353186"/>
          </a:xfrm>
          <a:prstGeom prst="rect">
            <a:avLst/>
          </a:prstGeom>
        </p:spPr>
        <p:txBody>
          <a:bodyPr lIns="0" tIns="0" rIns="0" bIns="0" rtlCol="0" anchor="t">
            <a:spAutoFit/>
          </a:bodyPr>
          <a:lstStyle/>
          <a:p>
            <a:pPr algn="ctr">
              <a:lnSpc>
                <a:spcPts val="3639"/>
              </a:lnSpc>
              <a:spcBef>
                <a:spcPct val="0"/>
              </a:spcBef>
            </a:pPr>
            <a:r>
              <a:rPr lang="en-US" sz="2599" b="1" u="sng">
                <a:solidFill>
                  <a:srgbClr val="000000"/>
                </a:solidFill>
                <a:latin typeface="DM Sans Bold"/>
                <a:ea typeface="DM Sans Bold"/>
                <a:cs typeface="DM Sans Bold"/>
                <a:sym typeface="DM Sans Bold"/>
              </a:rPr>
              <a:t>Q-Learning Module</a:t>
            </a:r>
            <a:r>
              <a:rPr lang="en-US" sz="2599">
                <a:solidFill>
                  <a:srgbClr val="000000"/>
                </a:solidFill>
                <a:latin typeface="DM Sans"/>
                <a:ea typeface="DM Sans"/>
                <a:cs typeface="DM Sans"/>
                <a:sym typeface="DM Sans"/>
              </a:rPr>
              <a:t>: Dynamically adjusts the fuzzy base green time using reinforcement learning, learning optimal green durations over time to minimize congestion and improve traffic flow.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62025"/>
            <a:ext cx="16838582" cy="8064078"/>
          </a:xfrm>
          <a:prstGeom prst="rect">
            <a:avLst/>
          </a:prstGeom>
        </p:spPr>
        <p:txBody>
          <a:bodyPr lIns="0" tIns="0" rIns="0" bIns="0" rtlCol="0" anchor="t">
            <a:spAutoFit/>
          </a:bodyPr>
          <a:lstStyle/>
          <a:p>
            <a:pPr algn="l">
              <a:lnSpc>
                <a:spcPts val="4546"/>
              </a:lnSpc>
            </a:pPr>
            <a:endParaRPr/>
          </a:p>
          <a:p>
            <a:pPr marL="701082" lvl="1" indent="-350541" algn="l">
              <a:lnSpc>
                <a:spcPts val="4546"/>
              </a:lnSpc>
              <a:buFont typeface="Arial"/>
              <a:buChar char="•"/>
            </a:pPr>
            <a:r>
              <a:rPr lang="en-US" sz="3247" b="1" u="sng">
                <a:solidFill>
                  <a:srgbClr val="000000"/>
                </a:solidFill>
                <a:latin typeface="DM Sans Bold"/>
                <a:ea typeface="DM Sans Bold"/>
                <a:cs typeface="DM Sans Bold"/>
                <a:sym typeface="DM Sans Bold"/>
              </a:rPr>
              <a:t>OUTPUT FORMAT FROM TRAINED ML MODEL</a:t>
            </a:r>
            <a:r>
              <a:rPr lang="en-US" sz="3247">
                <a:solidFill>
                  <a:srgbClr val="000000"/>
                </a:solidFill>
                <a:latin typeface="DM Sans"/>
                <a:ea typeface="DM Sans"/>
                <a:cs typeface="DM Sans"/>
                <a:sym typeface="DM Sans"/>
              </a:rPr>
              <a:t>: CSV/TensorFlow Lite (.tflite) WITH</a:t>
            </a:r>
          </a:p>
          <a:p>
            <a:pPr marL="1402164" lvl="2" indent="-467388" algn="just">
              <a:lnSpc>
                <a:spcPts val="4546"/>
              </a:lnSpc>
              <a:buFont typeface="Arial"/>
              <a:buChar char="⚬"/>
            </a:pPr>
            <a:r>
              <a:rPr lang="en-US" sz="3247">
                <a:solidFill>
                  <a:srgbClr val="000000"/>
                </a:solidFill>
                <a:latin typeface="DM Sans"/>
                <a:ea typeface="DM Sans"/>
                <a:cs typeface="DM Sans"/>
                <a:sym typeface="DM Sans"/>
              </a:rPr>
              <a:t>intersection_id</a:t>
            </a:r>
          </a:p>
          <a:p>
            <a:pPr marL="1402164" lvl="2" indent="-467388" algn="just">
              <a:lnSpc>
                <a:spcPts val="4546"/>
              </a:lnSpc>
              <a:buFont typeface="Arial"/>
              <a:buChar char="⚬"/>
            </a:pPr>
            <a:r>
              <a:rPr lang="en-US" sz="3247">
                <a:solidFill>
                  <a:srgbClr val="000000"/>
                </a:solidFill>
                <a:latin typeface="DM Sans"/>
                <a:ea typeface="DM Sans"/>
                <a:cs typeface="DM Sans"/>
                <a:sym typeface="DM Sans"/>
              </a:rPr>
              <a:t>time_bin</a:t>
            </a:r>
          </a:p>
          <a:p>
            <a:pPr marL="1402164" lvl="2" indent="-467388" algn="just">
              <a:lnSpc>
                <a:spcPts val="4546"/>
              </a:lnSpc>
              <a:buFont typeface="Arial"/>
              <a:buChar char="⚬"/>
            </a:pPr>
            <a:r>
              <a:rPr lang="en-US" sz="3247">
                <a:solidFill>
                  <a:srgbClr val="000000"/>
                </a:solidFill>
                <a:latin typeface="DM Sans"/>
                <a:ea typeface="DM Sans"/>
                <a:cs typeface="DM Sans"/>
                <a:sym typeface="DM Sans"/>
              </a:rPr>
              <a:t>vehicle_count</a:t>
            </a:r>
          </a:p>
          <a:p>
            <a:pPr marL="1402164" lvl="2" indent="-467388" algn="just">
              <a:lnSpc>
                <a:spcPts val="4546"/>
              </a:lnSpc>
              <a:buFont typeface="Arial"/>
              <a:buChar char="⚬"/>
            </a:pPr>
            <a:r>
              <a:rPr lang="en-US" sz="3247">
                <a:solidFill>
                  <a:srgbClr val="000000"/>
                </a:solidFill>
                <a:latin typeface="DM Sans"/>
                <a:ea typeface="DM Sans"/>
                <a:cs typeface="DM Sans"/>
                <a:sym typeface="DM Sans"/>
              </a:rPr>
              <a:t>avg_speed</a:t>
            </a:r>
          </a:p>
          <a:p>
            <a:pPr marL="1402164" lvl="2" indent="-467388" algn="just">
              <a:lnSpc>
                <a:spcPts val="4546"/>
              </a:lnSpc>
              <a:buFont typeface="Arial"/>
              <a:buChar char="⚬"/>
            </a:pPr>
            <a:r>
              <a:rPr lang="en-US" sz="3247">
                <a:solidFill>
                  <a:srgbClr val="000000"/>
                </a:solidFill>
                <a:latin typeface="DM Sans"/>
                <a:ea typeface="DM Sans"/>
                <a:cs typeface="DM Sans"/>
                <a:sym typeface="DM Sans"/>
              </a:rPr>
              <a:t>congestion_score</a:t>
            </a:r>
          </a:p>
          <a:p>
            <a:pPr marL="1402164" lvl="2" indent="-467388" algn="just">
              <a:lnSpc>
                <a:spcPts val="4546"/>
              </a:lnSpc>
              <a:buFont typeface="Arial"/>
              <a:buChar char="⚬"/>
            </a:pPr>
            <a:r>
              <a:rPr lang="en-US" sz="3247">
                <a:solidFill>
                  <a:srgbClr val="000000"/>
                </a:solidFill>
                <a:latin typeface="DM Sans"/>
                <a:ea typeface="DM Sans"/>
                <a:cs typeface="DM Sans"/>
                <a:sym typeface="DM Sans"/>
              </a:rPr>
              <a:t>current_green,fuzzy_delta</a:t>
            </a:r>
          </a:p>
          <a:p>
            <a:pPr marL="1402164" lvl="2" indent="-467388" algn="just">
              <a:lnSpc>
                <a:spcPts val="4546"/>
              </a:lnSpc>
              <a:buFont typeface="Arial"/>
              <a:buChar char="⚬"/>
            </a:pPr>
            <a:r>
              <a:rPr lang="en-US" sz="3247">
                <a:solidFill>
                  <a:srgbClr val="000000"/>
                </a:solidFill>
                <a:latin typeface="DM Sans"/>
                <a:ea typeface="DM Sans"/>
                <a:cs typeface="DM Sans"/>
                <a:sym typeface="DM Sans"/>
              </a:rPr>
              <a:t>suggested_green_fuzzy</a:t>
            </a:r>
          </a:p>
          <a:p>
            <a:pPr algn="just">
              <a:lnSpc>
                <a:spcPts val="4546"/>
              </a:lnSpc>
              <a:spcBef>
                <a:spcPct val="0"/>
              </a:spcBef>
            </a:pPr>
            <a:endParaRPr lang="en-US" sz="3247">
              <a:solidFill>
                <a:srgbClr val="000000"/>
              </a:solidFill>
              <a:latin typeface="DM Sans"/>
              <a:ea typeface="DM Sans"/>
              <a:cs typeface="DM Sans"/>
              <a:sym typeface="DM Sans"/>
            </a:endParaRPr>
          </a:p>
          <a:p>
            <a:pPr marL="701082" lvl="1" indent="-350541" algn="l">
              <a:lnSpc>
                <a:spcPts val="4546"/>
              </a:lnSpc>
              <a:spcBef>
                <a:spcPct val="0"/>
              </a:spcBef>
              <a:buFont typeface="Arial"/>
              <a:buChar char="•"/>
            </a:pPr>
            <a:r>
              <a:rPr lang="en-US" sz="3247">
                <a:solidFill>
                  <a:srgbClr val="000000"/>
                </a:solidFill>
                <a:latin typeface="DM Sans"/>
                <a:ea typeface="DM Sans"/>
                <a:cs typeface="DM Sans"/>
                <a:sym typeface="DM Sans"/>
              </a:rPr>
              <a:t>This output file will be added to the raw data collection code.</a:t>
            </a:r>
          </a:p>
          <a:p>
            <a:pPr marL="701082" lvl="1" indent="-350541" algn="l">
              <a:lnSpc>
                <a:spcPts val="4546"/>
              </a:lnSpc>
              <a:spcBef>
                <a:spcPct val="0"/>
              </a:spcBef>
              <a:buFont typeface="Arial"/>
              <a:buChar char="•"/>
            </a:pPr>
            <a:r>
              <a:rPr lang="en-US" sz="3247">
                <a:solidFill>
                  <a:srgbClr val="000000"/>
                </a:solidFill>
                <a:latin typeface="DM Sans"/>
                <a:ea typeface="DM Sans"/>
                <a:cs typeface="DM Sans"/>
                <a:sym typeface="DM Sans"/>
              </a:rPr>
              <a:t>Then the file will be placed as an edge node for the preprocessing of the raw data.</a:t>
            </a:r>
          </a:p>
          <a:p>
            <a:pPr marL="701082" lvl="1" indent="-350541" algn="l">
              <a:lnSpc>
                <a:spcPts val="4546"/>
              </a:lnSpc>
              <a:spcBef>
                <a:spcPct val="0"/>
              </a:spcBef>
              <a:buFont typeface="Arial"/>
              <a:buChar char="•"/>
            </a:pPr>
            <a:r>
              <a:rPr lang="en-US" sz="3247">
                <a:solidFill>
                  <a:srgbClr val="000000"/>
                </a:solidFill>
                <a:latin typeface="DM Sans"/>
                <a:ea typeface="DM Sans"/>
                <a:cs typeface="DM Sans"/>
                <a:sym typeface="DM Sans"/>
              </a:rPr>
              <a:t>Preprocessing will be done in the edge than sending the all the raw data to the cloud</a:t>
            </a:r>
          </a:p>
          <a:p>
            <a:pPr marL="701082" lvl="1" indent="-350541" algn="l">
              <a:lnSpc>
                <a:spcPts val="4546"/>
              </a:lnSpc>
              <a:buFont typeface="Arial"/>
              <a:buChar char="•"/>
            </a:pPr>
            <a:r>
              <a:rPr lang="en-US" sz="3247">
                <a:solidFill>
                  <a:srgbClr val="000000"/>
                </a:solidFill>
                <a:latin typeface="DM Sans"/>
                <a:ea typeface="DM Sans"/>
                <a:cs typeface="DM Sans"/>
                <a:sym typeface="DM Sans"/>
              </a:rPr>
              <a:t>Sending the results of edge node to cloud for decision making.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AD7D4"/>
        </a:solidFill>
        <a:effectLst/>
      </p:bgPr>
    </p:bg>
    <p:spTree>
      <p:nvGrpSpPr>
        <p:cNvPr id="1" name=""/>
        <p:cNvGrpSpPr/>
        <p:nvPr/>
      </p:nvGrpSpPr>
      <p:grpSpPr>
        <a:xfrm>
          <a:off x="0" y="0"/>
          <a:ext cx="0" cy="0"/>
          <a:chOff x="0" y="0"/>
          <a:chExt cx="0" cy="0"/>
        </a:xfrm>
      </p:grpSpPr>
      <p:grpSp>
        <p:nvGrpSpPr>
          <p:cNvPr id="2" name="Group 2"/>
          <p:cNvGrpSpPr/>
          <p:nvPr/>
        </p:nvGrpSpPr>
        <p:grpSpPr>
          <a:xfrm>
            <a:off x="3231428" y="445328"/>
            <a:ext cx="12935737" cy="2273205"/>
            <a:chOff x="0" y="0"/>
            <a:chExt cx="3406943" cy="598704"/>
          </a:xfrm>
        </p:grpSpPr>
        <p:sp>
          <p:nvSpPr>
            <p:cNvPr id="3" name="Freeform 3"/>
            <p:cNvSpPr/>
            <p:nvPr/>
          </p:nvSpPr>
          <p:spPr>
            <a:xfrm>
              <a:off x="0" y="0"/>
              <a:ext cx="3406943" cy="598704"/>
            </a:xfrm>
            <a:custGeom>
              <a:avLst/>
              <a:gdLst/>
              <a:ahLst/>
              <a:cxnLst/>
              <a:rect l="l" t="t" r="r" b="b"/>
              <a:pathLst>
                <a:path w="3406943" h="598704">
                  <a:moveTo>
                    <a:pt x="30523" y="0"/>
                  </a:moveTo>
                  <a:lnTo>
                    <a:pt x="3376420" y="0"/>
                  </a:lnTo>
                  <a:cubicBezTo>
                    <a:pt x="3384516" y="0"/>
                    <a:pt x="3392279" y="3216"/>
                    <a:pt x="3398003" y="8940"/>
                  </a:cubicBezTo>
                  <a:cubicBezTo>
                    <a:pt x="3403728" y="14664"/>
                    <a:pt x="3406943" y="22428"/>
                    <a:pt x="3406943" y="30523"/>
                  </a:cubicBezTo>
                  <a:lnTo>
                    <a:pt x="3406943" y="568181"/>
                  </a:lnTo>
                  <a:cubicBezTo>
                    <a:pt x="3406943" y="576276"/>
                    <a:pt x="3403728" y="584040"/>
                    <a:pt x="3398003" y="589764"/>
                  </a:cubicBezTo>
                  <a:cubicBezTo>
                    <a:pt x="3392279" y="595488"/>
                    <a:pt x="3384516" y="598704"/>
                    <a:pt x="3376420" y="598704"/>
                  </a:cubicBezTo>
                  <a:lnTo>
                    <a:pt x="30523" y="598704"/>
                  </a:lnTo>
                  <a:cubicBezTo>
                    <a:pt x="13666" y="598704"/>
                    <a:pt x="0" y="585039"/>
                    <a:pt x="0" y="568181"/>
                  </a:cubicBezTo>
                  <a:lnTo>
                    <a:pt x="0" y="30523"/>
                  </a:lnTo>
                  <a:cubicBezTo>
                    <a:pt x="0" y="22428"/>
                    <a:pt x="3216" y="14664"/>
                    <a:pt x="8940" y="8940"/>
                  </a:cubicBezTo>
                  <a:cubicBezTo>
                    <a:pt x="14664" y="3216"/>
                    <a:pt x="22428" y="0"/>
                    <a:pt x="30523" y="0"/>
                  </a:cubicBezTo>
                  <a:close/>
                </a:path>
              </a:pathLst>
            </a:custGeom>
            <a:solidFill>
              <a:srgbClr val="AAD7D4"/>
            </a:solidFill>
          </p:spPr>
        </p:sp>
        <p:sp>
          <p:nvSpPr>
            <p:cNvPr id="4" name="TextBox 4"/>
            <p:cNvSpPr txBox="1"/>
            <p:nvPr/>
          </p:nvSpPr>
          <p:spPr>
            <a:xfrm>
              <a:off x="0" y="-38100"/>
              <a:ext cx="3406943" cy="636804"/>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720409" y="1028700"/>
            <a:ext cx="8738612" cy="9143708"/>
          </a:xfrm>
          <a:custGeom>
            <a:avLst/>
            <a:gdLst/>
            <a:ahLst/>
            <a:cxnLst/>
            <a:rect l="l" t="t" r="r" b="b"/>
            <a:pathLst>
              <a:path w="8738612" h="9143708">
                <a:moveTo>
                  <a:pt x="0" y="0"/>
                </a:moveTo>
                <a:lnTo>
                  <a:pt x="8738612" y="0"/>
                </a:lnTo>
                <a:lnTo>
                  <a:pt x="8738612" y="9143708"/>
                </a:lnTo>
                <a:lnTo>
                  <a:pt x="0" y="9143708"/>
                </a:lnTo>
                <a:lnTo>
                  <a:pt x="0" y="0"/>
                </a:lnTo>
                <a:close/>
              </a:path>
            </a:pathLst>
          </a:custGeom>
          <a:blipFill>
            <a:blip r:embed="rId2"/>
            <a:stretch>
              <a:fillRect t="-1330" r="-1242" b="-1330"/>
            </a:stretch>
          </a:blipFill>
        </p:spPr>
      </p:sp>
      <p:sp>
        <p:nvSpPr>
          <p:cNvPr id="6" name="TextBox 6"/>
          <p:cNvSpPr txBox="1"/>
          <p:nvPr/>
        </p:nvSpPr>
        <p:spPr>
          <a:xfrm>
            <a:off x="3594418" y="-19050"/>
            <a:ext cx="11531552" cy="1162342"/>
          </a:xfrm>
          <a:prstGeom prst="rect">
            <a:avLst/>
          </a:prstGeom>
        </p:spPr>
        <p:txBody>
          <a:bodyPr lIns="0" tIns="0" rIns="0" bIns="0" rtlCol="0" anchor="t">
            <a:spAutoFit/>
          </a:bodyPr>
          <a:lstStyle/>
          <a:p>
            <a:pPr algn="ctr">
              <a:lnSpc>
                <a:spcPts val="8593"/>
              </a:lnSpc>
            </a:pPr>
            <a:r>
              <a:rPr lang="en-US" sz="7538" b="1">
                <a:solidFill>
                  <a:srgbClr val="1C2120"/>
                </a:solidFill>
                <a:latin typeface="Poppins Bold"/>
                <a:ea typeface="Poppins Bold"/>
                <a:cs typeface="Poppins Bold"/>
                <a:sym typeface="Poppins Bold"/>
              </a:rPr>
              <a:t>Architectural Design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614025" y="2982494"/>
            <a:ext cx="9334943" cy="5539163"/>
          </a:xfrm>
          <a:custGeom>
            <a:avLst/>
            <a:gdLst/>
            <a:ahLst/>
            <a:cxnLst/>
            <a:rect l="l" t="t" r="r" b="b"/>
            <a:pathLst>
              <a:path w="9334943" h="5539163">
                <a:moveTo>
                  <a:pt x="0" y="0"/>
                </a:moveTo>
                <a:lnTo>
                  <a:pt x="9334943" y="0"/>
                </a:lnTo>
                <a:lnTo>
                  <a:pt x="9334943" y="5539164"/>
                </a:lnTo>
                <a:lnTo>
                  <a:pt x="0" y="5539164"/>
                </a:lnTo>
                <a:lnTo>
                  <a:pt x="0" y="0"/>
                </a:lnTo>
                <a:close/>
              </a:path>
            </a:pathLst>
          </a:custGeom>
          <a:blipFill>
            <a:blip r:embed="rId2"/>
            <a:stretch>
              <a:fillRect l="-5326" r="-5326"/>
            </a:stretch>
          </a:blipFill>
        </p:spPr>
      </p:sp>
      <p:sp>
        <p:nvSpPr>
          <p:cNvPr id="3" name="TextBox 3"/>
          <p:cNvSpPr txBox="1"/>
          <p:nvPr/>
        </p:nvSpPr>
        <p:spPr>
          <a:xfrm>
            <a:off x="1256327" y="6191011"/>
            <a:ext cx="7887673" cy="2423098"/>
          </a:xfrm>
          <a:prstGeom prst="rect">
            <a:avLst/>
          </a:prstGeom>
        </p:spPr>
        <p:txBody>
          <a:bodyPr lIns="0" tIns="0" rIns="0" bIns="0" rtlCol="0" anchor="t">
            <a:spAutoFit/>
          </a:bodyPr>
          <a:lstStyle/>
          <a:p>
            <a:pPr algn="l">
              <a:lnSpc>
                <a:spcPts val="2799"/>
              </a:lnSpc>
            </a:pPr>
            <a:r>
              <a:rPr lang="en-US" sz="2073" spc="124">
                <a:solidFill>
                  <a:srgbClr val="000000"/>
                </a:solidFill>
                <a:latin typeface="DM Sans"/>
                <a:ea typeface="DM Sans"/>
                <a:cs typeface="DM Sans"/>
                <a:sym typeface="DM Sans"/>
              </a:rPr>
              <a:t>Key functions which we have used in our code:</a:t>
            </a:r>
          </a:p>
          <a:p>
            <a:pPr marL="447760" lvl="1" indent="-223880" algn="l">
              <a:lnSpc>
                <a:spcPts val="2799"/>
              </a:lnSpc>
              <a:buFont typeface="Arial"/>
              <a:buChar char="•"/>
            </a:pPr>
            <a:r>
              <a:rPr lang="en-US" sz="2073" spc="124">
                <a:solidFill>
                  <a:srgbClr val="000000"/>
                </a:solidFill>
                <a:latin typeface="DM Sans"/>
                <a:ea typeface="DM Sans"/>
                <a:cs typeface="DM Sans"/>
                <a:sym typeface="DM Sans"/>
              </a:rPr>
              <a:t>get_lane_metrics: Calucate queue, density,occupancy and speed.</a:t>
            </a:r>
          </a:p>
          <a:p>
            <a:pPr algn="l">
              <a:lnSpc>
                <a:spcPts val="2799"/>
              </a:lnSpc>
            </a:pPr>
            <a:endParaRPr lang="en-US" sz="2073" spc="124">
              <a:solidFill>
                <a:srgbClr val="000000"/>
              </a:solidFill>
              <a:latin typeface="DM Sans"/>
              <a:ea typeface="DM Sans"/>
              <a:cs typeface="DM Sans"/>
              <a:sym typeface="DM Sans"/>
            </a:endParaRPr>
          </a:p>
          <a:p>
            <a:pPr algn="l">
              <a:lnSpc>
                <a:spcPts val="2799"/>
              </a:lnSpc>
            </a:pPr>
            <a:endParaRPr lang="en-US" sz="2073" spc="124">
              <a:solidFill>
                <a:srgbClr val="000000"/>
              </a:solidFill>
              <a:latin typeface="DM Sans"/>
              <a:ea typeface="DM Sans"/>
              <a:cs typeface="DM Sans"/>
              <a:sym typeface="DM Sans"/>
            </a:endParaRPr>
          </a:p>
          <a:p>
            <a:pPr algn="l">
              <a:lnSpc>
                <a:spcPts val="2799"/>
              </a:lnSpc>
            </a:pPr>
            <a:endParaRPr lang="en-US" sz="2073" spc="124">
              <a:solidFill>
                <a:srgbClr val="000000"/>
              </a:solidFill>
              <a:latin typeface="DM Sans"/>
              <a:ea typeface="DM Sans"/>
              <a:cs typeface="DM Sans"/>
              <a:sym typeface="DM Sans"/>
            </a:endParaRPr>
          </a:p>
          <a:p>
            <a:pPr marL="0" lvl="0" indent="0" algn="l">
              <a:lnSpc>
                <a:spcPts val="2799"/>
              </a:lnSpc>
              <a:spcBef>
                <a:spcPct val="0"/>
              </a:spcBef>
            </a:pPr>
            <a:endParaRPr lang="en-US" sz="2073" spc="124">
              <a:solidFill>
                <a:srgbClr val="000000"/>
              </a:solidFill>
              <a:latin typeface="DM Sans"/>
              <a:ea typeface="DM Sans"/>
              <a:cs typeface="DM Sans"/>
              <a:sym typeface="DM Sans"/>
            </a:endParaRPr>
          </a:p>
        </p:txBody>
      </p:sp>
      <p:sp>
        <p:nvSpPr>
          <p:cNvPr id="4" name="TextBox 4"/>
          <p:cNvSpPr txBox="1"/>
          <p:nvPr/>
        </p:nvSpPr>
        <p:spPr>
          <a:xfrm>
            <a:off x="1938995" y="1104900"/>
            <a:ext cx="15674362" cy="774360"/>
          </a:xfrm>
          <a:prstGeom prst="rect">
            <a:avLst/>
          </a:prstGeom>
        </p:spPr>
        <p:txBody>
          <a:bodyPr lIns="0" tIns="0" rIns="0" bIns="0" rtlCol="0" anchor="t">
            <a:spAutoFit/>
          </a:bodyPr>
          <a:lstStyle/>
          <a:p>
            <a:pPr algn="l">
              <a:lnSpc>
                <a:spcPts val="5471"/>
              </a:lnSpc>
            </a:pPr>
            <a:r>
              <a:rPr lang="en-US" sz="5640" b="1">
                <a:solidFill>
                  <a:srgbClr val="1C2120"/>
                </a:solidFill>
                <a:latin typeface="Poppins Bold"/>
                <a:ea typeface="Poppins Bold"/>
                <a:cs typeface="Poppins Bold"/>
                <a:sym typeface="Poppins Bold"/>
              </a:rPr>
              <a:t>Traffic Simulation with Adaptive TLC</a:t>
            </a:r>
          </a:p>
        </p:txBody>
      </p:sp>
      <p:sp>
        <p:nvSpPr>
          <p:cNvPr id="5" name="TextBox 5"/>
          <p:cNvSpPr txBox="1"/>
          <p:nvPr/>
        </p:nvSpPr>
        <p:spPr>
          <a:xfrm>
            <a:off x="1320642" y="2860358"/>
            <a:ext cx="7759043" cy="3068145"/>
          </a:xfrm>
          <a:prstGeom prst="rect">
            <a:avLst/>
          </a:prstGeom>
        </p:spPr>
        <p:txBody>
          <a:bodyPr lIns="0" tIns="0" rIns="0" bIns="0" rtlCol="0" anchor="t">
            <a:spAutoFit/>
          </a:bodyPr>
          <a:lstStyle/>
          <a:p>
            <a:pPr algn="l">
              <a:lnSpc>
                <a:spcPts val="2754"/>
              </a:lnSpc>
            </a:pPr>
            <a:r>
              <a:rPr lang="en-US" sz="2040" spc="122">
                <a:solidFill>
                  <a:srgbClr val="000000"/>
                </a:solidFill>
                <a:latin typeface="DM Sans"/>
                <a:ea typeface="DM Sans"/>
                <a:cs typeface="DM Sans"/>
                <a:sym typeface="DM Sans"/>
              </a:rPr>
              <a:t>Objective: Simulate traffic at junction using SUMO to collect vehicle data and optimize traffic light timing.</a:t>
            </a:r>
          </a:p>
          <a:p>
            <a:pPr algn="l">
              <a:lnSpc>
                <a:spcPts val="2754"/>
              </a:lnSpc>
            </a:pPr>
            <a:endParaRPr lang="en-US" sz="2040" spc="122">
              <a:solidFill>
                <a:srgbClr val="000000"/>
              </a:solidFill>
              <a:latin typeface="DM Sans"/>
              <a:ea typeface="DM Sans"/>
              <a:cs typeface="DM Sans"/>
              <a:sym typeface="DM Sans"/>
            </a:endParaRPr>
          </a:p>
          <a:p>
            <a:pPr algn="l">
              <a:lnSpc>
                <a:spcPts val="2754"/>
              </a:lnSpc>
            </a:pPr>
            <a:r>
              <a:rPr lang="en-US" sz="2040" spc="122">
                <a:solidFill>
                  <a:srgbClr val="000000"/>
                </a:solidFill>
                <a:latin typeface="DM Sans"/>
                <a:ea typeface="DM Sans"/>
                <a:cs typeface="DM Sans"/>
                <a:sym typeface="DM Sans"/>
              </a:rPr>
              <a:t>Methodology: </a:t>
            </a:r>
          </a:p>
          <a:p>
            <a:pPr marL="440458" lvl="1" indent="-220229" algn="l">
              <a:lnSpc>
                <a:spcPts val="2754"/>
              </a:lnSpc>
              <a:buFont typeface="Arial"/>
              <a:buChar char="•"/>
            </a:pPr>
            <a:r>
              <a:rPr lang="en-US" sz="2040" spc="122">
                <a:solidFill>
                  <a:srgbClr val="000000"/>
                </a:solidFill>
                <a:latin typeface="DM Sans"/>
                <a:ea typeface="DM Sans"/>
                <a:cs typeface="DM Sans"/>
                <a:sym typeface="DM Sans"/>
              </a:rPr>
              <a:t>Tool: SUMO with TraCI</a:t>
            </a:r>
          </a:p>
          <a:p>
            <a:pPr marL="440458" lvl="1" indent="-220229" algn="l">
              <a:lnSpc>
                <a:spcPts val="2754"/>
              </a:lnSpc>
              <a:buFont typeface="Arial"/>
              <a:buChar char="•"/>
            </a:pPr>
            <a:r>
              <a:rPr lang="en-US" sz="2040" spc="122">
                <a:solidFill>
                  <a:srgbClr val="000000"/>
                </a:solidFill>
                <a:latin typeface="DM Sans"/>
                <a:ea typeface="DM Sans"/>
                <a:cs typeface="DM Sans"/>
                <a:sym typeface="DM Sans"/>
              </a:rPr>
              <a:t> Data collected: Vehicle position, GPS coordinates, speed, lane, distance, traffic light states.</a:t>
            </a:r>
          </a:p>
          <a:p>
            <a:pPr marL="440458" lvl="1" indent="-220229" algn="l">
              <a:lnSpc>
                <a:spcPts val="2754"/>
              </a:lnSpc>
              <a:buFont typeface="Arial"/>
              <a:buChar char="•"/>
            </a:pPr>
            <a:r>
              <a:rPr lang="en-US" sz="2040" spc="122">
                <a:solidFill>
                  <a:srgbClr val="000000"/>
                </a:solidFill>
                <a:latin typeface="DM Sans"/>
                <a:ea typeface="DM Sans"/>
                <a:cs typeface="DM Sans"/>
                <a:sym typeface="DM Sans"/>
              </a:rPr>
              <a:t>Adaptive Control: Adjusts the traffic light phase duaration based on lane metrics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76131" y="445328"/>
            <a:ext cx="13491034" cy="1041051"/>
            <a:chOff x="0" y="0"/>
            <a:chExt cx="3553194" cy="274186"/>
          </a:xfrm>
        </p:grpSpPr>
        <p:sp>
          <p:nvSpPr>
            <p:cNvPr id="3" name="Freeform 3"/>
            <p:cNvSpPr/>
            <p:nvPr/>
          </p:nvSpPr>
          <p:spPr>
            <a:xfrm>
              <a:off x="0" y="0"/>
              <a:ext cx="3553194" cy="274186"/>
            </a:xfrm>
            <a:custGeom>
              <a:avLst/>
              <a:gdLst/>
              <a:ahLst/>
              <a:cxnLst/>
              <a:rect l="l" t="t" r="r" b="b"/>
              <a:pathLst>
                <a:path w="3553194" h="274186">
                  <a:moveTo>
                    <a:pt x="29267" y="0"/>
                  </a:moveTo>
                  <a:lnTo>
                    <a:pt x="3523928" y="0"/>
                  </a:lnTo>
                  <a:cubicBezTo>
                    <a:pt x="3531690" y="0"/>
                    <a:pt x="3539134" y="3083"/>
                    <a:pt x="3544622" y="8572"/>
                  </a:cubicBezTo>
                  <a:cubicBezTo>
                    <a:pt x="3550111" y="14061"/>
                    <a:pt x="3553194" y="21505"/>
                    <a:pt x="3553194" y="29267"/>
                  </a:cubicBezTo>
                  <a:lnTo>
                    <a:pt x="3553194" y="244919"/>
                  </a:lnTo>
                  <a:cubicBezTo>
                    <a:pt x="3553194" y="252681"/>
                    <a:pt x="3550111" y="260126"/>
                    <a:pt x="3544622" y="265614"/>
                  </a:cubicBezTo>
                  <a:cubicBezTo>
                    <a:pt x="3539134" y="271103"/>
                    <a:pt x="3531690" y="274186"/>
                    <a:pt x="3523928" y="274186"/>
                  </a:cubicBezTo>
                  <a:lnTo>
                    <a:pt x="29267" y="274186"/>
                  </a:lnTo>
                  <a:cubicBezTo>
                    <a:pt x="21505" y="274186"/>
                    <a:pt x="14061" y="271103"/>
                    <a:pt x="8572" y="265614"/>
                  </a:cubicBezTo>
                  <a:cubicBezTo>
                    <a:pt x="3083" y="260126"/>
                    <a:pt x="0" y="252681"/>
                    <a:pt x="0" y="244919"/>
                  </a:cubicBezTo>
                  <a:lnTo>
                    <a:pt x="0" y="29267"/>
                  </a:lnTo>
                  <a:cubicBezTo>
                    <a:pt x="0" y="21505"/>
                    <a:pt x="3083" y="14061"/>
                    <a:pt x="8572" y="8572"/>
                  </a:cubicBezTo>
                  <a:cubicBezTo>
                    <a:pt x="14061" y="3083"/>
                    <a:pt x="21505" y="0"/>
                    <a:pt x="29267" y="0"/>
                  </a:cubicBezTo>
                  <a:close/>
                </a:path>
              </a:pathLst>
            </a:custGeom>
            <a:solidFill>
              <a:srgbClr val="AAD7D4"/>
            </a:solidFill>
          </p:spPr>
        </p:sp>
        <p:sp>
          <p:nvSpPr>
            <p:cNvPr id="4" name="TextBox 4"/>
            <p:cNvSpPr txBox="1"/>
            <p:nvPr/>
          </p:nvSpPr>
          <p:spPr>
            <a:xfrm>
              <a:off x="0" y="-38100"/>
              <a:ext cx="3553194" cy="31228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4473326" y="1911841"/>
            <a:ext cx="9896645" cy="3626911"/>
          </a:xfrm>
          <a:custGeom>
            <a:avLst/>
            <a:gdLst/>
            <a:ahLst/>
            <a:cxnLst/>
            <a:rect l="l" t="t" r="r" b="b"/>
            <a:pathLst>
              <a:path w="9896645" h="3626911">
                <a:moveTo>
                  <a:pt x="0" y="0"/>
                </a:moveTo>
                <a:lnTo>
                  <a:pt x="9896645" y="0"/>
                </a:lnTo>
                <a:lnTo>
                  <a:pt x="9896645" y="3626911"/>
                </a:lnTo>
                <a:lnTo>
                  <a:pt x="0" y="3626911"/>
                </a:lnTo>
                <a:lnTo>
                  <a:pt x="0" y="0"/>
                </a:lnTo>
                <a:close/>
              </a:path>
            </a:pathLst>
          </a:custGeom>
          <a:blipFill>
            <a:blip r:embed="rId2"/>
            <a:stretch>
              <a:fillRect r="-8776" b="-1870"/>
            </a:stretch>
          </a:blipFill>
        </p:spPr>
      </p:sp>
      <p:sp>
        <p:nvSpPr>
          <p:cNvPr id="6" name="Freeform 6"/>
          <p:cNvSpPr/>
          <p:nvPr/>
        </p:nvSpPr>
        <p:spPr>
          <a:xfrm>
            <a:off x="3976828" y="5967377"/>
            <a:ext cx="10889640" cy="3946689"/>
          </a:xfrm>
          <a:custGeom>
            <a:avLst/>
            <a:gdLst/>
            <a:ahLst/>
            <a:cxnLst/>
            <a:rect l="l" t="t" r="r" b="b"/>
            <a:pathLst>
              <a:path w="10889640" h="3946689">
                <a:moveTo>
                  <a:pt x="0" y="0"/>
                </a:moveTo>
                <a:lnTo>
                  <a:pt x="10889641" y="0"/>
                </a:lnTo>
                <a:lnTo>
                  <a:pt x="10889641" y="3946689"/>
                </a:lnTo>
                <a:lnTo>
                  <a:pt x="0" y="3946689"/>
                </a:lnTo>
                <a:lnTo>
                  <a:pt x="0" y="0"/>
                </a:lnTo>
                <a:close/>
              </a:path>
            </a:pathLst>
          </a:custGeom>
          <a:blipFill>
            <a:blip r:embed="rId3"/>
            <a:stretch>
              <a:fillRect/>
            </a:stretch>
          </a:blipFill>
        </p:spPr>
      </p:sp>
      <p:sp>
        <p:nvSpPr>
          <p:cNvPr id="7" name="TextBox 7"/>
          <p:cNvSpPr txBox="1"/>
          <p:nvPr/>
        </p:nvSpPr>
        <p:spPr>
          <a:xfrm>
            <a:off x="2676131" y="759460"/>
            <a:ext cx="12935737" cy="481331"/>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DM Sans Bold"/>
                <a:ea typeface="DM Sans Bold"/>
                <a:cs typeface="DM Sans Bold"/>
                <a:sym typeface="DM Sans Bold"/>
              </a:rPr>
              <a:t>Code Snippets of Collecting Raw Data and Storing it in a CSV File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8713537" y="3339206"/>
            <a:ext cx="8627191" cy="4502507"/>
          </a:xfrm>
          <a:custGeom>
            <a:avLst/>
            <a:gdLst/>
            <a:ahLst/>
            <a:cxnLst/>
            <a:rect l="l" t="t" r="r" b="b"/>
            <a:pathLst>
              <a:path w="8627191" h="4502507">
                <a:moveTo>
                  <a:pt x="0" y="0"/>
                </a:moveTo>
                <a:lnTo>
                  <a:pt x="8627191" y="0"/>
                </a:lnTo>
                <a:lnTo>
                  <a:pt x="8627191" y="4502507"/>
                </a:lnTo>
                <a:lnTo>
                  <a:pt x="0" y="4502507"/>
                </a:lnTo>
                <a:lnTo>
                  <a:pt x="0" y="0"/>
                </a:lnTo>
                <a:close/>
              </a:path>
            </a:pathLst>
          </a:custGeom>
          <a:blipFill>
            <a:blip r:embed="rId2"/>
            <a:stretch>
              <a:fillRect t="-334" r="-52646" b="-937"/>
            </a:stretch>
          </a:blipFill>
        </p:spPr>
      </p:sp>
      <p:sp>
        <p:nvSpPr>
          <p:cNvPr id="3" name="TextBox 3"/>
          <p:cNvSpPr txBox="1"/>
          <p:nvPr/>
        </p:nvSpPr>
        <p:spPr>
          <a:xfrm>
            <a:off x="1028700" y="1921759"/>
            <a:ext cx="8526012" cy="1553160"/>
          </a:xfrm>
          <a:prstGeom prst="rect">
            <a:avLst/>
          </a:prstGeom>
        </p:spPr>
        <p:txBody>
          <a:bodyPr lIns="0" tIns="0" rIns="0" bIns="0" rtlCol="0" anchor="t">
            <a:spAutoFit/>
          </a:bodyPr>
          <a:lstStyle/>
          <a:p>
            <a:pPr marL="0" lvl="1" indent="0" algn="l">
              <a:lnSpc>
                <a:spcPts val="5712"/>
              </a:lnSpc>
              <a:spcBef>
                <a:spcPct val="0"/>
              </a:spcBef>
            </a:pPr>
            <a:r>
              <a:rPr lang="en-US" sz="5889" b="1">
                <a:solidFill>
                  <a:srgbClr val="1C2120"/>
                </a:solidFill>
                <a:latin typeface="Poppins Bold"/>
                <a:ea typeface="Poppins Bold"/>
                <a:cs typeface="Poppins Bold"/>
                <a:sym typeface="Poppins Bold"/>
              </a:rPr>
              <a:t>Results Of Raw Data Collection</a:t>
            </a:r>
          </a:p>
        </p:txBody>
      </p:sp>
      <p:sp>
        <p:nvSpPr>
          <p:cNvPr id="4" name="TextBox 4"/>
          <p:cNvSpPr txBox="1"/>
          <p:nvPr/>
        </p:nvSpPr>
        <p:spPr>
          <a:xfrm>
            <a:off x="1028700" y="4118317"/>
            <a:ext cx="7375605" cy="4830935"/>
          </a:xfrm>
          <a:prstGeom prst="rect">
            <a:avLst/>
          </a:prstGeom>
        </p:spPr>
        <p:txBody>
          <a:bodyPr lIns="0" tIns="0" rIns="0" bIns="0" rtlCol="0" anchor="t">
            <a:spAutoFit/>
          </a:bodyPr>
          <a:lstStyle/>
          <a:p>
            <a:pPr algn="l">
              <a:lnSpc>
                <a:spcPts val="2618"/>
              </a:lnSpc>
            </a:pPr>
            <a:r>
              <a:rPr lang="en-US" sz="1939" spc="116">
                <a:solidFill>
                  <a:srgbClr val="000000"/>
                </a:solidFill>
                <a:latin typeface="DM Sans"/>
                <a:ea typeface="DM Sans"/>
                <a:cs typeface="DM Sans"/>
                <a:sym typeface="DM Sans"/>
              </a:rPr>
              <a:t>Output: Data exported to csv file with vehicle details (speed, position, etc..) and traffic light states(phase duration, state, controlled lanes). This csv file we will giving to CI Team to train the ML model.</a:t>
            </a:r>
          </a:p>
          <a:p>
            <a:pPr algn="l">
              <a:lnSpc>
                <a:spcPts val="2618"/>
              </a:lnSpc>
            </a:pPr>
            <a:endParaRPr lang="en-US" sz="1939" spc="116">
              <a:solidFill>
                <a:srgbClr val="000000"/>
              </a:solidFill>
              <a:latin typeface="DM Sans"/>
              <a:ea typeface="DM Sans"/>
              <a:cs typeface="DM Sans"/>
              <a:sym typeface="DM Sans"/>
            </a:endParaRPr>
          </a:p>
          <a:p>
            <a:pPr algn="l">
              <a:lnSpc>
                <a:spcPts val="2618"/>
              </a:lnSpc>
            </a:pPr>
            <a:r>
              <a:rPr lang="en-US" sz="1939" spc="116">
                <a:solidFill>
                  <a:srgbClr val="000000"/>
                </a:solidFill>
                <a:latin typeface="DM Sans"/>
                <a:ea typeface="DM Sans"/>
                <a:cs typeface="DM Sans"/>
                <a:sym typeface="DM Sans"/>
              </a:rPr>
              <a:t>Key metrics: </a:t>
            </a:r>
          </a:p>
          <a:p>
            <a:pPr algn="l">
              <a:lnSpc>
                <a:spcPts val="2618"/>
              </a:lnSpc>
            </a:pPr>
            <a:r>
              <a:rPr lang="en-US" sz="1939" spc="116">
                <a:solidFill>
                  <a:srgbClr val="000000"/>
                </a:solidFill>
                <a:latin typeface="DM Sans"/>
                <a:ea typeface="DM Sans"/>
                <a:cs typeface="DM Sans"/>
                <a:sym typeface="DM Sans"/>
              </a:rPr>
              <a:t>Vehicle data: Speed, distance, lane usage and upcoming traffic lights</a:t>
            </a:r>
          </a:p>
          <a:p>
            <a:pPr algn="l">
              <a:lnSpc>
                <a:spcPts val="2618"/>
              </a:lnSpc>
            </a:pPr>
            <a:endParaRPr lang="en-US" sz="1939" spc="116">
              <a:solidFill>
                <a:srgbClr val="000000"/>
              </a:solidFill>
              <a:latin typeface="DM Sans"/>
              <a:ea typeface="DM Sans"/>
              <a:cs typeface="DM Sans"/>
              <a:sym typeface="DM Sans"/>
            </a:endParaRPr>
          </a:p>
          <a:p>
            <a:pPr algn="l">
              <a:lnSpc>
                <a:spcPts val="2618"/>
              </a:lnSpc>
            </a:pPr>
            <a:r>
              <a:rPr lang="en-US" sz="1939" spc="116">
                <a:solidFill>
                  <a:srgbClr val="000000"/>
                </a:solidFill>
                <a:latin typeface="DM Sans"/>
                <a:ea typeface="DM Sans"/>
                <a:cs typeface="DM Sans"/>
                <a:sym typeface="DM Sans"/>
              </a:rPr>
              <a:t>Traffic Light: Adaptive phase durations based on the congestion level and queue length </a:t>
            </a:r>
          </a:p>
          <a:p>
            <a:pPr algn="l">
              <a:lnSpc>
                <a:spcPts val="2618"/>
              </a:lnSpc>
            </a:pPr>
            <a:endParaRPr lang="en-US" sz="1939" spc="116">
              <a:solidFill>
                <a:srgbClr val="000000"/>
              </a:solidFill>
              <a:latin typeface="DM Sans"/>
              <a:ea typeface="DM Sans"/>
              <a:cs typeface="DM Sans"/>
              <a:sym typeface="DM Sans"/>
            </a:endParaRPr>
          </a:p>
          <a:p>
            <a:pPr algn="l">
              <a:lnSpc>
                <a:spcPts val="2618"/>
              </a:lnSpc>
            </a:pPr>
            <a:endParaRPr lang="en-US" sz="1939" spc="116">
              <a:solidFill>
                <a:srgbClr val="000000"/>
              </a:solidFill>
              <a:latin typeface="DM Sans"/>
              <a:ea typeface="DM Sans"/>
              <a:cs typeface="DM Sans"/>
              <a:sym typeface="DM Sans"/>
            </a:endParaRPr>
          </a:p>
          <a:p>
            <a:pPr algn="l">
              <a:lnSpc>
                <a:spcPts val="2618"/>
              </a:lnSpc>
            </a:pPr>
            <a:endParaRPr lang="en-US" sz="1939" spc="116">
              <a:solidFill>
                <a:srgbClr val="000000"/>
              </a:solidFill>
              <a:latin typeface="DM Sans"/>
              <a:ea typeface="DM Sans"/>
              <a:cs typeface="DM Sans"/>
              <a:sym typeface="DM Sans"/>
            </a:endParaRPr>
          </a:p>
          <a:p>
            <a:pPr marL="0" lvl="0" indent="0" algn="l">
              <a:lnSpc>
                <a:spcPts val="2618"/>
              </a:lnSpc>
              <a:spcBef>
                <a:spcPct val="0"/>
              </a:spcBef>
            </a:pPr>
            <a:endParaRPr lang="en-US" sz="1939" spc="116">
              <a:solidFill>
                <a:srgbClr val="000000"/>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06092" y="197150"/>
            <a:ext cx="16475816" cy="1104917"/>
          </a:xfrm>
          <a:prstGeom prst="rect">
            <a:avLst/>
          </a:prstGeom>
        </p:spPr>
        <p:txBody>
          <a:bodyPr lIns="0" tIns="0" rIns="0" bIns="0" rtlCol="0" anchor="t">
            <a:spAutoFit/>
          </a:bodyPr>
          <a:lstStyle/>
          <a:p>
            <a:pPr algn="ctr">
              <a:lnSpc>
                <a:spcPts val="4112"/>
              </a:lnSpc>
            </a:pPr>
            <a:r>
              <a:rPr lang="en-US" sz="4239" b="1" u="sng">
                <a:solidFill>
                  <a:srgbClr val="1C2120"/>
                </a:solidFill>
                <a:latin typeface="Poppins Bold"/>
                <a:ea typeface="Poppins Bold"/>
                <a:cs typeface="Poppins Bold"/>
                <a:sym typeface="Poppins Bold"/>
              </a:rPr>
              <a:t>FUZZY MODULE</a:t>
            </a:r>
          </a:p>
          <a:p>
            <a:pPr algn="ctr">
              <a:lnSpc>
                <a:spcPts val="4112"/>
              </a:lnSpc>
            </a:pPr>
            <a:endParaRPr lang="en-US" sz="4239" b="1" u="sng">
              <a:solidFill>
                <a:srgbClr val="1C2120"/>
              </a:solidFill>
              <a:latin typeface="Poppins Bold"/>
              <a:ea typeface="Poppins Bold"/>
              <a:cs typeface="Poppins Bold"/>
              <a:sym typeface="Poppins Bold"/>
            </a:endParaRPr>
          </a:p>
        </p:txBody>
      </p:sp>
      <p:sp>
        <p:nvSpPr>
          <p:cNvPr id="3" name="TextBox 3"/>
          <p:cNvSpPr txBox="1"/>
          <p:nvPr/>
        </p:nvSpPr>
        <p:spPr>
          <a:xfrm>
            <a:off x="609600" y="962025"/>
            <a:ext cx="2895600" cy="613409"/>
          </a:xfrm>
          <a:prstGeom prst="rect">
            <a:avLst/>
          </a:prstGeom>
        </p:spPr>
        <p:txBody>
          <a:bodyPr wrap="square" lIns="0" tIns="0" rIns="0" bIns="0" rtlCol="0" anchor="t">
            <a:spAutoFit/>
          </a:bodyPr>
          <a:lstStyle/>
          <a:p>
            <a:pPr algn="ctr">
              <a:lnSpc>
                <a:spcPts val="5040"/>
              </a:lnSpc>
            </a:pPr>
            <a:r>
              <a:rPr lang="en-US" sz="3600" b="1" u="sng" dirty="0">
                <a:solidFill>
                  <a:srgbClr val="1C2120"/>
                </a:solidFill>
                <a:latin typeface="Canva Sans Bold"/>
                <a:ea typeface="Canva Sans Bold"/>
                <a:cs typeface="Canva Sans Bold"/>
                <a:sym typeface="Canva Sans Bold"/>
              </a:rPr>
              <a:t>Objective</a:t>
            </a:r>
          </a:p>
        </p:txBody>
      </p:sp>
      <p:sp>
        <p:nvSpPr>
          <p:cNvPr id="4" name="TextBox 4"/>
          <p:cNvSpPr txBox="1"/>
          <p:nvPr/>
        </p:nvSpPr>
        <p:spPr>
          <a:xfrm>
            <a:off x="1212116" y="1758705"/>
            <a:ext cx="16169792" cy="492379"/>
          </a:xfrm>
          <a:prstGeom prst="rect">
            <a:avLst/>
          </a:prstGeom>
        </p:spPr>
        <p:txBody>
          <a:bodyPr wrap="square" lIns="0" tIns="0" rIns="0" bIns="0" rtlCol="0" anchor="t">
            <a:spAutoFit/>
          </a:bodyPr>
          <a:lstStyle/>
          <a:p>
            <a:pPr algn="ctr">
              <a:lnSpc>
                <a:spcPts val="3919"/>
              </a:lnSpc>
              <a:spcBef>
                <a:spcPct val="0"/>
              </a:spcBef>
            </a:pPr>
            <a:r>
              <a:rPr lang="en-US" sz="3200" dirty="0">
                <a:solidFill>
                  <a:srgbClr val="1C2120"/>
                </a:solidFill>
                <a:latin typeface="DM Sans"/>
                <a:ea typeface="DM Sans"/>
                <a:cs typeface="DM Sans"/>
                <a:sym typeface="DM Sans"/>
              </a:rPr>
              <a:t>Provides base estimation of green light duration based on traffic conditions.</a:t>
            </a:r>
          </a:p>
        </p:txBody>
      </p:sp>
      <p:sp>
        <p:nvSpPr>
          <p:cNvPr id="5" name="TextBox 5"/>
          <p:cNvSpPr txBox="1"/>
          <p:nvPr/>
        </p:nvSpPr>
        <p:spPr>
          <a:xfrm>
            <a:off x="906092" y="2423306"/>
            <a:ext cx="5739144" cy="537844"/>
          </a:xfrm>
          <a:prstGeom prst="rect">
            <a:avLst/>
          </a:prstGeom>
        </p:spPr>
        <p:txBody>
          <a:bodyPr wrap="square" lIns="0" tIns="0" rIns="0" bIns="0" rtlCol="0" anchor="t">
            <a:spAutoFit/>
          </a:bodyPr>
          <a:lstStyle/>
          <a:p>
            <a:pPr algn="ctr">
              <a:lnSpc>
                <a:spcPts val="4480"/>
              </a:lnSpc>
            </a:pPr>
            <a:r>
              <a:rPr lang="en-US" sz="3200" b="1" u="sng" dirty="0">
                <a:solidFill>
                  <a:srgbClr val="1C2120"/>
                </a:solidFill>
                <a:latin typeface="Canva Sans Bold"/>
                <a:ea typeface="Canva Sans Bold"/>
                <a:cs typeface="Canva Sans Bold"/>
                <a:sym typeface="Canva Sans Bold"/>
              </a:rPr>
              <a:t>Inputs &amp; Membership values</a:t>
            </a:r>
          </a:p>
        </p:txBody>
      </p:sp>
      <p:sp>
        <p:nvSpPr>
          <p:cNvPr id="6" name="TextBox 6"/>
          <p:cNvSpPr txBox="1"/>
          <p:nvPr/>
        </p:nvSpPr>
        <p:spPr>
          <a:xfrm>
            <a:off x="1043448" y="3034322"/>
            <a:ext cx="8225876" cy="441468"/>
          </a:xfrm>
          <a:prstGeom prst="rect">
            <a:avLst/>
          </a:prstGeom>
        </p:spPr>
        <p:txBody>
          <a:bodyPr wrap="square" lIns="0" tIns="0" rIns="0" bIns="0" rtlCol="0" anchor="t">
            <a:spAutoFit/>
          </a:bodyPr>
          <a:lstStyle/>
          <a:p>
            <a:pPr algn="ctr">
              <a:lnSpc>
                <a:spcPts val="3639"/>
              </a:lnSpc>
              <a:spcBef>
                <a:spcPct val="0"/>
              </a:spcBef>
            </a:pPr>
            <a:r>
              <a:rPr lang="en-US" sz="2599" b="1" dirty="0">
                <a:solidFill>
                  <a:srgbClr val="1C2120"/>
                </a:solidFill>
                <a:latin typeface="DM Sans Bold"/>
                <a:ea typeface="DM Sans Bold"/>
                <a:cs typeface="DM Sans Bold"/>
                <a:sym typeface="DM Sans Bold"/>
              </a:rPr>
              <a:t>Inputs</a:t>
            </a:r>
            <a:r>
              <a:rPr lang="en-US" sz="2599" dirty="0">
                <a:solidFill>
                  <a:srgbClr val="1C2120"/>
                </a:solidFill>
                <a:latin typeface="DM Sans"/>
                <a:ea typeface="DM Sans"/>
                <a:cs typeface="DM Sans"/>
                <a:sym typeface="DM Sans"/>
              </a:rPr>
              <a:t>: Queue length and average traffic speed.</a:t>
            </a:r>
          </a:p>
        </p:txBody>
      </p:sp>
      <p:sp>
        <p:nvSpPr>
          <p:cNvPr id="7" name="TextBox 7"/>
          <p:cNvSpPr txBox="1"/>
          <p:nvPr/>
        </p:nvSpPr>
        <p:spPr>
          <a:xfrm>
            <a:off x="1212116" y="3662806"/>
            <a:ext cx="16840200" cy="895986"/>
          </a:xfrm>
          <a:prstGeom prst="rect">
            <a:avLst/>
          </a:prstGeom>
        </p:spPr>
        <p:txBody>
          <a:bodyPr wrap="square" lIns="0" tIns="0" rIns="0" bIns="0" rtlCol="0" anchor="t">
            <a:spAutoFit/>
          </a:bodyPr>
          <a:lstStyle/>
          <a:p>
            <a:pPr algn="ctr">
              <a:lnSpc>
                <a:spcPts val="3639"/>
              </a:lnSpc>
              <a:spcBef>
                <a:spcPct val="0"/>
              </a:spcBef>
            </a:pPr>
            <a:r>
              <a:rPr lang="en-US" sz="2599" b="1" dirty="0">
                <a:solidFill>
                  <a:srgbClr val="1C2120"/>
                </a:solidFill>
                <a:latin typeface="DM Sans Bold"/>
                <a:ea typeface="DM Sans Bold"/>
                <a:cs typeface="DM Sans Bold"/>
                <a:sym typeface="DM Sans Bold"/>
              </a:rPr>
              <a:t>Fuzzification</a:t>
            </a:r>
            <a:r>
              <a:rPr lang="en-US" sz="2599" dirty="0">
                <a:solidFill>
                  <a:srgbClr val="1C2120"/>
                </a:solidFill>
                <a:latin typeface="DM Sans"/>
                <a:ea typeface="DM Sans"/>
                <a:cs typeface="DM Sans"/>
                <a:sym typeface="DM Sans"/>
              </a:rPr>
              <a:t>: Uses membership functions to define traffic states: low, medium, high speed; short, medium, long queue</a:t>
            </a:r>
          </a:p>
        </p:txBody>
      </p:sp>
      <p:sp>
        <p:nvSpPr>
          <p:cNvPr id="8" name="TextBox 8"/>
          <p:cNvSpPr txBox="1"/>
          <p:nvPr/>
        </p:nvSpPr>
        <p:spPr>
          <a:xfrm>
            <a:off x="762001" y="4233690"/>
            <a:ext cx="3999666" cy="580389"/>
          </a:xfrm>
          <a:prstGeom prst="rect">
            <a:avLst/>
          </a:prstGeom>
        </p:spPr>
        <p:txBody>
          <a:bodyPr wrap="square" lIns="0" tIns="0" rIns="0" bIns="0" rtlCol="0" anchor="t">
            <a:spAutoFit/>
          </a:bodyPr>
          <a:lstStyle/>
          <a:p>
            <a:pPr algn="ctr">
              <a:lnSpc>
                <a:spcPts val="4760"/>
              </a:lnSpc>
            </a:pPr>
            <a:r>
              <a:rPr lang="en-US" sz="3400" b="1" u="sng" dirty="0">
                <a:solidFill>
                  <a:srgbClr val="1C2120"/>
                </a:solidFill>
                <a:latin typeface="Canva Sans Bold"/>
                <a:ea typeface="Canva Sans Bold"/>
                <a:cs typeface="Canva Sans Bold"/>
                <a:sym typeface="Canva Sans Bold"/>
              </a:rPr>
              <a:t>Decision Process</a:t>
            </a:r>
          </a:p>
        </p:txBody>
      </p:sp>
      <p:sp>
        <p:nvSpPr>
          <p:cNvPr id="9" name="TextBox 9"/>
          <p:cNvSpPr txBox="1"/>
          <p:nvPr/>
        </p:nvSpPr>
        <p:spPr>
          <a:xfrm>
            <a:off x="381000" y="4966479"/>
            <a:ext cx="8451579" cy="428194"/>
          </a:xfrm>
          <a:prstGeom prst="rect">
            <a:avLst/>
          </a:prstGeom>
        </p:spPr>
        <p:txBody>
          <a:bodyPr wrap="square" lIns="0" tIns="0" rIns="0" bIns="0" rtlCol="0" anchor="t">
            <a:spAutoFit/>
          </a:bodyPr>
          <a:lstStyle/>
          <a:p>
            <a:pPr marL="539746" lvl="1" indent="-269873" algn="ctr">
              <a:lnSpc>
                <a:spcPts val="3499"/>
              </a:lnSpc>
              <a:spcBef>
                <a:spcPct val="0"/>
              </a:spcBef>
              <a:buFont typeface="Arial"/>
              <a:buChar char="•"/>
            </a:pPr>
            <a:r>
              <a:rPr lang="en-US" sz="2499" dirty="0">
                <a:solidFill>
                  <a:srgbClr val="1C2120"/>
                </a:solidFill>
                <a:latin typeface="DM Sans"/>
                <a:ea typeface="DM Sans"/>
                <a:cs typeface="DM Sans"/>
                <a:sym typeface="DM Sans"/>
              </a:rPr>
              <a:t>Apply IF–THEN rules to decide adjustment:</a:t>
            </a:r>
          </a:p>
        </p:txBody>
      </p:sp>
      <p:sp>
        <p:nvSpPr>
          <p:cNvPr id="10" name="TextBox 10"/>
          <p:cNvSpPr txBox="1"/>
          <p:nvPr/>
        </p:nvSpPr>
        <p:spPr>
          <a:xfrm>
            <a:off x="2141399" y="5434892"/>
            <a:ext cx="9007673" cy="424412"/>
          </a:xfrm>
          <a:prstGeom prst="rect">
            <a:avLst/>
          </a:prstGeom>
        </p:spPr>
        <p:txBody>
          <a:bodyPr wrap="square" lIns="0" tIns="0" rIns="0" bIns="0" rtlCol="0" anchor="t">
            <a:spAutoFit/>
          </a:bodyPr>
          <a:lstStyle/>
          <a:p>
            <a:pPr marL="539746" lvl="1" indent="-269873" algn="ctr">
              <a:lnSpc>
                <a:spcPts val="3499"/>
              </a:lnSpc>
              <a:spcBef>
                <a:spcPct val="0"/>
              </a:spcBef>
              <a:buFont typeface="Arial"/>
              <a:buChar char="•"/>
            </a:pPr>
            <a:r>
              <a:rPr lang="en-US" sz="2499" dirty="0">
                <a:solidFill>
                  <a:srgbClr val="1C2120"/>
                </a:solidFill>
                <a:latin typeface="DM Sans"/>
                <a:ea typeface="DM Sans"/>
                <a:cs typeface="DM Sans"/>
                <a:sym typeface="DM Sans"/>
              </a:rPr>
              <a:t>IF queue is long AND speed is low → extend green light.</a:t>
            </a:r>
          </a:p>
        </p:txBody>
      </p:sp>
      <p:sp>
        <p:nvSpPr>
          <p:cNvPr id="11" name="TextBox 11"/>
          <p:cNvSpPr txBox="1"/>
          <p:nvPr/>
        </p:nvSpPr>
        <p:spPr>
          <a:xfrm>
            <a:off x="2072148" y="5974418"/>
            <a:ext cx="9442489" cy="422275"/>
          </a:xfrm>
          <a:prstGeom prst="rect">
            <a:avLst/>
          </a:prstGeom>
        </p:spPr>
        <p:txBody>
          <a:bodyPr wrap="square" lIns="0" tIns="0" rIns="0" bIns="0" rtlCol="0" anchor="t">
            <a:spAutoFit/>
          </a:bodyPr>
          <a:lstStyle/>
          <a:p>
            <a:pPr marL="539746" lvl="1" indent="-269873" algn="ctr">
              <a:lnSpc>
                <a:spcPts val="3499"/>
              </a:lnSpc>
              <a:spcBef>
                <a:spcPct val="0"/>
              </a:spcBef>
              <a:buFont typeface="Arial"/>
              <a:buChar char="•"/>
            </a:pPr>
            <a:r>
              <a:rPr lang="en-US" sz="2499" dirty="0">
                <a:solidFill>
                  <a:srgbClr val="1C2120"/>
                </a:solidFill>
                <a:latin typeface="DM Sans"/>
                <a:ea typeface="DM Sans"/>
                <a:cs typeface="DM Sans"/>
                <a:sym typeface="DM Sans"/>
              </a:rPr>
              <a:t>IF queue is short AND speed is high → shorten green light.</a:t>
            </a:r>
          </a:p>
        </p:txBody>
      </p:sp>
      <p:sp>
        <p:nvSpPr>
          <p:cNvPr id="12" name="TextBox 12"/>
          <p:cNvSpPr txBox="1"/>
          <p:nvPr/>
        </p:nvSpPr>
        <p:spPr>
          <a:xfrm>
            <a:off x="762001" y="7103132"/>
            <a:ext cx="2082819" cy="537844"/>
          </a:xfrm>
          <a:prstGeom prst="rect">
            <a:avLst/>
          </a:prstGeom>
        </p:spPr>
        <p:txBody>
          <a:bodyPr wrap="square" lIns="0" tIns="0" rIns="0" bIns="0" rtlCol="0" anchor="t">
            <a:spAutoFit/>
          </a:bodyPr>
          <a:lstStyle/>
          <a:p>
            <a:pPr algn="ctr">
              <a:lnSpc>
                <a:spcPts val="4480"/>
              </a:lnSpc>
            </a:pPr>
            <a:r>
              <a:rPr lang="en-US" sz="3200" b="1" u="sng" dirty="0">
                <a:solidFill>
                  <a:srgbClr val="1C2120"/>
                </a:solidFill>
                <a:latin typeface="Canva Sans Bold"/>
                <a:ea typeface="Canva Sans Bold"/>
                <a:cs typeface="Canva Sans Bold"/>
                <a:sym typeface="Canva Sans Bold"/>
              </a:rPr>
              <a:t>Output :</a:t>
            </a:r>
          </a:p>
        </p:txBody>
      </p:sp>
      <p:sp>
        <p:nvSpPr>
          <p:cNvPr id="13" name="TextBox 13"/>
          <p:cNvSpPr txBox="1"/>
          <p:nvPr/>
        </p:nvSpPr>
        <p:spPr>
          <a:xfrm>
            <a:off x="2844820" y="7157292"/>
            <a:ext cx="5127486" cy="448841"/>
          </a:xfrm>
          <a:prstGeom prst="rect">
            <a:avLst/>
          </a:prstGeom>
        </p:spPr>
        <p:txBody>
          <a:bodyPr wrap="square" lIns="0" tIns="0" rIns="0" bIns="0" rtlCol="0" anchor="t">
            <a:spAutoFit/>
          </a:bodyPr>
          <a:lstStyle/>
          <a:p>
            <a:pPr algn="ctr">
              <a:lnSpc>
                <a:spcPts val="3639"/>
              </a:lnSpc>
              <a:spcBef>
                <a:spcPct val="0"/>
              </a:spcBef>
            </a:pPr>
            <a:r>
              <a:rPr lang="en-US" sz="2800" dirty="0">
                <a:solidFill>
                  <a:srgbClr val="1C2120"/>
                </a:solidFill>
                <a:latin typeface="DM Sans"/>
                <a:ea typeface="DM Sans"/>
                <a:cs typeface="DM Sans"/>
                <a:sym typeface="DM Sans"/>
              </a:rPr>
              <a:t>Base green time per edge/lane.</a:t>
            </a:r>
          </a:p>
        </p:txBody>
      </p:sp>
      <p:sp>
        <p:nvSpPr>
          <p:cNvPr id="14" name="TextBox 14"/>
          <p:cNvSpPr txBox="1"/>
          <p:nvPr/>
        </p:nvSpPr>
        <p:spPr>
          <a:xfrm>
            <a:off x="228600" y="6522538"/>
            <a:ext cx="12615877" cy="428194"/>
          </a:xfrm>
          <a:prstGeom prst="rect">
            <a:avLst/>
          </a:prstGeom>
        </p:spPr>
        <p:txBody>
          <a:bodyPr wrap="square" lIns="0" tIns="0" rIns="0" bIns="0" rtlCol="0" anchor="t">
            <a:spAutoFit/>
          </a:bodyPr>
          <a:lstStyle/>
          <a:p>
            <a:pPr marL="539749" lvl="1" indent="-269875" algn="ctr">
              <a:lnSpc>
                <a:spcPts val="3499"/>
              </a:lnSpc>
              <a:spcBef>
                <a:spcPct val="0"/>
              </a:spcBef>
              <a:buFont typeface="Arial"/>
              <a:buChar char="•"/>
            </a:pPr>
            <a:r>
              <a:rPr lang="en-US" sz="2499" dirty="0">
                <a:solidFill>
                  <a:srgbClr val="1C2120"/>
                </a:solidFill>
                <a:latin typeface="DM Sans"/>
                <a:ea typeface="DM Sans"/>
                <a:cs typeface="DM Sans"/>
                <a:sym typeface="DM Sans"/>
              </a:rPr>
              <a:t>Performs defuzzification to convert fuzzy output into crisp green time </a:t>
            </a:r>
          </a:p>
        </p:txBody>
      </p:sp>
      <p:sp>
        <p:nvSpPr>
          <p:cNvPr id="15" name="TextBox 15"/>
          <p:cNvSpPr txBox="1"/>
          <p:nvPr/>
        </p:nvSpPr>
        <p:spPr>
          <a:xfrm>
            <a:off x="906092" y="7698125"/>
            <a:ext cx="5436010" cy="547371"/>
          </a:xfrm>
          <a:prstGeom prst="rect">
            <a:avLst/>
          </a:prstGeom>
        </p:spPr>
        <p:txBody>
          <a:bodyPr wrap="square" lIns="0" tIns="0" rIns="0" bIns="0" rtlCol="0" anchor="t">
            <a:spAutoFit/>
          </a:bodyPr>
          <a:lstStyle/>
          <a:p>
            <a:pPr algn="ctr">
              <a:lnSpc>
                <a:spcPts val="4479"/>
              </a:lnSpc>
              <a:spcBef>
                <a:spcPct val="0"/>
              </a:spcBef>
            </a:pPr>
            <a:r>
              <a:rPr lang="en-US" sz="3199" b="1" u="sng" dirty="0">
                <a:solidFill>
                  <a:srgbClr val="1C2120"/>
                </a:solidFill>
                <a:latin typeface="DM Sans Bold"/>
                <a:ea typeface="DM Sans Bold"/>
                <a:cs typeface="DM Sans Bold"/>
                <a:sym typeface="DM Sans Bold"/>
              </a:rPr>
              <a:t>Integration with Q-learning</a:t>
            </a:r>
          </a:p>
        </p:txBody>
      </p:sp>
      <p:sp>
        <p:nvSpPr>
          <p:cNvPr id="16" name="TextBox 16"/>
          <p:cNvSpPr txBox="1"/>
          <p:nvPr/>
        </p:nvSpPr>
        <p:spPr>
          <a:xfrm>
            <a:off x="609600" y="8397896"/>
            <a:ext cx="10755808" cy="481331"/>
          </a:xfrm>
          <a:prstGeom prst="rect">
            <a:avLst/>
          </a:prstGeom>
        </p:spPr>
        <p:txBody>
          <a:bodyPr wrap="square" lIns="0" tIns="0" rIns="0" bIns="0" rtlCol="0" anchor="t">
            <a:spAutoFit/>
          </a:bodyPr>
          <a:lstStyle/>
          <a:p>
            <a:pPr marL="604515" lvl="1" indent="-302257" algn="ctr">
              <a:lnSpc>
                <a:spcPts val="3919"/>
              </a:lnSpc>
              <a:spcBef>
                <a:spcPct val="0"/>
              </a:spcBef>
              <a:buFont typeface="Arial"/>
              <a:buChar char="•"/>
            </a:pPr>
            <a:r>
              <a:rPr lang="en-US" sz="2799" dirty="0">
                <a:solidFill>
                  <a:srgbClr val="1C2120"/>
                </a:solidFill>
                <a:latin typeface="DM Sans"/>
                <a:ea typeface="DM Sans"/>
                <a:cs typeface="DM Sans"/>
                <a:sym typeface="DM Sans"/>
              </a:rPr>
              <a:t>Base green time from fuzzy logic is input for Q-Learning</a:t>
            </a:r>
          </a:p>
        </p:txBody>
      </p:sp>
      <p:sp>
        <p:nvSpPr>
          <p:cNvPr id="17" name="TextBox 17"/>
          <p:cNvSpPr txBox="1"/>
          <p:nvPr/>
        </p:nvSpPr>
        <p:spPr>
          <a:xfrm>
            <a:off x="609600" y="9069727"/>
            <a:ext cx="12234565" cy="481331"/>
          </a:xfrm>
          <a:prstGeom prst="rect">
            <a:avLst/>
          </a:prstGeom>
        </p:spPr>
        <p:txBody>
          <a:bodyPr wrap="square" lIns="0" tIns="0" rIns="0" bIns="0" rtlCol="0" anchor="t">
            <a:spAutoFit/>
          </a:bodyPr>
          <a:lstStyle/>
          <a:p>
            <a:pPr marL="604515" lvl="1" indent="-302257" algn="ctr">
              <a:lnSpc>
                <a:spcPts val="3919"/>
              </a:lnSpc>
              <a:spcBef>
                <a:spcPct val="0"/>
              </a:spcBef>
              <a:buFont typeface="Arial"/>
              <a:buChar char="•"/>
            </a:pPr>
            <a:r>
              <a:rPr lang="en-US" sz="2799" dirty="0">
                <a:solidFill>
                  <a:srgbClr val="1C2120"/>
                </a:solidFill>
                <a:latin typeface="DM Sans"/>
                <a:ea typeface="DM Sans"/>
                <a:cs typeface="DM Sans"/>
                <a:sym typeface="DM Sans"/>
              </a:rPr>
              <a:t>Q-Learning adjusts this base dynamically to optimize traffic flow</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28700" y="2299488"/>
            <a:ext cx="16049832" cy="760655"/>
          </a:xfrm>
          <a:custGeom>
            <a:avLst/>
            <a:gdLst/>
            <a:ahLst/>
            <a:cxnLst/>
            <a:rect l="l" t="t" r="r" b="b"/>
            <a:pathLst>
              <a:path w="16049832" h="760655">
                <a:moveTo>
                  <a:pt x="0" y="0"/>
                </a:moveTo>
                <a:lnTo>
                  <a:pt x="16049832" y="0"/>
                </a:lnTo>
                <a:lnTo>
                  <a:pt x="16049832" y="760655"/>
                </a:lnTo>
                <a:lnTo>
                  <a:pt x="0" y="760655"/>
                </a:lnTo>
                <a:lnTo>
                  <a:pt x="0" y="0"/>
                </a:lnTo>
                <a:close/>
              </a:path>
            </a:pathLst>
          </a:custGeom>
          <a:blipFill>
            <a:blip r:embed="rId2"/>
            <a:stretch>
              <a:fillRect t="-8025" b="-8025"/>
            </a:stretch>
          </a:blipFill>
        </p:spPr>
      </p:sp>
      <p:sp>
        <p:nvSpPr>
          <p:cNvPr id="3" name="Freeform 3"/>
          <p:cNvSpPr/>
          <p:nvPr/>
        </p:nvSpPr>
        <p:spPr>
          <a:xfrm>
            <a:off x="1119084" y="6320871"/>
            <a:ext cx="16140216" cy="678076"/>
          </a:xfrm>
          <a:custGeom>
            <a:avLst/>
            <a:gdLst/>
            <a:ahLst/>
            <a:cxnLst/>
            <a:rect l="l" t="t" r="r" b="b"/>
            <a:pathLst>
              <a:path w="16140216" h="678076">
                <a:moveTo>
                  <a:pt x="0" y="0"/>
                </a:moveTo>
                <a:lnTo>
                  <a:pt x="16140216" y="0"/>
                </a:lnTo>
                <a:lnTo>
                  <a:pt x="16140216" y="678076"/>
                </a:lnTo>
                <a:lnTo>
                  <a:pt x="0" y="678076"/>
                </a:lnTo>
                <a:lnTo>
                  <a:pt x="0" y="0"/>
                </a:lnTo>
                <a:close/>
              </a:path>
            </a:pathLst>
          </a:custGeom>
          <a:blipFill>
            <a:blip r:embed="rId3"/>
            <a:stretch>
              <a:fillRect t="-21408" b="-21408"/>
            </a:stretch>
          </a:blipFill>
        </p:spPr>
      </p:sp>
      <p:sp>
        <p:nvSpPr>
          <p:cNvPr id="4" name="TextBox 4"/>
          <p:cNvSpPr txBox="1"/>
          <p:nvPr/>
        </p:nvSpPr>
        <p:spPr>
          <a:xfrm>
            <a:off x="961717" y="2921633"/>
            <a:ext cx="10272075" cy="513859"/>
          </a:xfrm>
          <a:prstGeom prst="rect">
            <a:avLst/>
          </a:prstGeom>
        </p:spPr>
        <p:txBody>
          <a:bodyPr lIns="0" tIns="0" rIns="0" bIns="0" rtlCol="0" anchor="t">
            <a:spAutoFit/>
          </a:bodyPr>
          <a:lstStyle/>
          <a:p>
            <a:pPr marL="647694" lvl="1" indent="-323847" algn="ctr">
              <a:lnSpc>
                <a:spcPts val="4199"/>
              </a:lnSpc>
              <a:buFont typeface="Arial"/>
              <a:buChar char="•"/>
            </a:pPr>
            <a:r>
              <a:rPr lang="en-US" sz="2999" dirty="0">
                <a:solidFill>
                  <a:srgbClr val="000000"/>
                </a:solidFill>
                <a:latin typeface="DM Sans"/>
                <a:ea typeface="DM Sans"/>
                <a:cs typeface="DM Sans"/>
                <a:sym typeface="DM Sans"/>
              </a:rPr>
              <a:t> Values below 10 their medium membership value is 0.</a:t>
            </a:r>
          </a:p>
        </p:txBody>
      </p:sp>
      <p:sp>
        <p:nvSpPr>
          <p:cNvPr id="5" name="TextBox 5"/>
          <p:cNvSpPr txBox="1"/>
          <p:nvPr/>
        </p:nvSpPr>
        <p:spPr>
          <a:xfrm>
            <a:off x="838200" y="4274185"/>
            <a:ext cx="12851775" cy="513859"/>
          </a:xfrm>
          <a:prstGeom prst="rect">
            <a:avLst/>
          </a:prstGeom>
        </p:spPr>
        <p:txBody>
          <a:bodyPr wrap="square" lIns="0" tIns="0" rIns="0" bIns="0" rtlCol="0" anchor="t">
            <a:spAutoFit/>
          </a:bodyPr>
          <a:lstStyle/>
          <a:p>
            <a:pPr marL="647694" lvl="1" indent="-323847" algn="ctr">
              <a:lnSpc>
                <a:spcPts val="4199"/>
              </a:lnSpc>
              <a:buFont typeface="Arial"/>
              <a:buChar char="•"/>
            </a:pPr>
            <a:r>
              <a:rPr lang="en-US" sz="2999" dirty="0">
                <a:solidFill>
                  <a:srgbClr val="000000"/>
                </a:solidFill>
                <a:latin typeface="DM Sans"/>
                <a:ea typeface="DM Sans"/>
                <a:cs typeface="DM Sans"/>
                <a:sym typeface="DM Sans"/>
              </a:rPr>
              <a:t> Values between 25 and 40 and gradually lose their medium quality. </a:t>
            </a:r>
          </a:p>
        </p:txBody>
      </p:sp>
      <p:sp>
        <p:nvSpPr>
          <p:cNvPr id="6" name="TextBox 6"/>
          <p:cNvSpPr txBox="1"/>
          <p:nvPr/>
        </p:nvSpPr>
        <p:spPr>
          <a:xfrm>
            <a:off x="961717" y="4950460"/>
            <a:ext cx="6643042" cy="513859"/>
          </a:xfrm>
          <a:prstGeom prst="rect">
            <a:avLst/>
          </a:prstGeom>
        </p:spPr>
        <p:txBody>
          <a:bodyPr wrap="square" lIns="0" tIns="0" rIns="0" bIns="0" rtlCol="0" anchor="t">
            <a:spAutoFit/>
          </a:bodyPr>
          <a:lstStyle/>
          <a:p>
            <a:pPr marL="647694" lvl="1" indent="-323847" algn="ctr">
              <a:lnSpc>
                <a:spcPts val="4199"/>
              </a:lnSpc>
              <a:buFont typeface="Arial"/>
              <a:buChar char="•"/>
            </a:pPr>
            <a:r>
              <a:rPr lang="en-US" sz="2999" dirty="0">
                <a:solidFill>
                  <a:srgbClr val="000000"/>
                </a:solidFill>
                <a:latin typeface="DM Sans"/>
                <a:ea typeface="DM Sans"/>
                <a:cs typeface="DM Sans"/>
                <a:sym typeface="DM Sans"/>
              </a:rPr>
              <a:t> Values above 40 are not medium</a:t>
            </a:r>
          </a:p>
        </p:txBody>
      </p:sp>
      <p:sp>
        <p:nvSpPr>
          <p:cNvPr id="7" name="TextBox 7"/>
          <p:cNvSpPr txBox="1"/>
          <p:nvPr/>
        </p:nvSpPr>
        <p:spPr>
          <a:xfrm>
            <a:off x="1028700" y="5528390"/>
            <a:ext cx="6298441" cy="563881"/>
          </a:xfrm>
          <a:prstGeom prst="rect">
            <a:avLst/>
          </a:prstGeom>
        </p:spPr>
        <p:txBody>
          <a:bodyPr lIns="0" tIns="0" rIns="0" bIns="0" rtlCol="0" anchor="t">
            <a:spAutoFit/>
          </a:bodyPr>
          <a:lstStyle/>
          <a:p>
            <a:pPr algn="ctr">
              <a:lnSpc>
                <a:spcPts val="4619"/>
              </a:lnSpc>
              <a:spcBef>
                <a:spcPct val="0"/>
              </a:spcBef>
            </a:pPr>
            <a:r>
              <a:rPr lang="en-US" sz="3299" b="1" u="sng" dirty="0">
                <a:solidFill>
                  <a:srgbClr val="000000"/>
                </a:solidFill>
                <a:latin typeface="DM Sans Bold"/>
                <a:ea typeface="DM Sans Bold"/>
                <a:cs typeface="DM Sans Bold"/>
                <a:sym typeface="DM Sans Bold"/>
              </a:rPr>
              <a:t>Calculating Congestion Score</a:t>
            </a:r>
          </a:p>
        </p:txBody>
      </p:sp>
      <p:sp>
        <p:nvSpPr>
          <p:cNvPr id="8" name="TextBox 8"/>
          <p:cNvSpPr txBox="1"/>
          <p:nvPr/>
        </p:nvSpPr>
        <p:spPr>
          <a:xfrm>
            <a:off x="1028700" y="1392707"/>
            <a:ext cx="6602970" cy="563881"/>
          </a:xfrm>
          <a:prstGeom prst="rect">
            <a:avLst/>
          </a:prstGeom>
        </p:spPr>
        <p:txBody>
          <a:bodyPr lIns="0" tIns="0" rIns="0" bIns="0" rtlCol="0" anchor="t">
            <a:spAutoFit/>
          </a:bodyPr>
          <a:lstStyle/>
          <a:p>
            <a:pPr algn="ctr">
              <a:lnSpc>
                <a:spcPts val="4619"/>
              </a:lnSpc>
              <a:spcBef>
                <a:spcPct val="0"/>
              </a:spcBef>
            </a:pPr>
            <a:r>
              <a:rPr lang="en-US" sz="3299" b="1" u="sng">
                <a:solidFill>
                  <a:srgbClr val="000000"/>
                </a:solidFill>
                <a:latin typeface="DM Sans Bold"/>
                <a:ea typeface="DM Sans Bold"/>
                <a:cs typeface="DM Sans Bold"/>
                <a:sym typeface="DM Sans Bold"/>
              </a:rPr>
              <a:t>Trinagular Membership Function</a:t>
            </a:r>
          </a:p>
        </p:txBody>
      </p:sp>
      <p:sp>
        <p:nvSpPr>
          <p:cNvPr id="9" name="TextBox 9"/>
          <p:cNvSpPr txBox="1"/>
          <p:nvPr/>
        </p:nvSpPr>
        <p:spPr>
          <a:xfrm>
            <a:off x="1006909" y="7288218"/>
            <a:ext cx="16364565" cy="513859"/>
          </a:xfrm>
          <a:prstGeom prst="rect">
            <a:avLst/>
          </a:prstGeom>
        </p:spPr>
        <p:txBody>
          <a:bodyPr lIns="0" tIns="0" rIns="0" bIns="0" rtlCol="0" anchor="t">
            <a:spAutoFit/>
          </a:bodyPr>
          <a:lstStyle/>
          <a:p>
            <a:pPr marL="647694" lvl="1" indent="-323847" algn="ctr">
              <a:lnSpc>
                <a:spcPts val="4199"/>
              </a:lnSpc>
              <a:spcBef>
                <a:spcPct val="0"/>
              </a:spcBef>
              <a:buFont typeface="Arial"/>
              <a:buChar char="•"/>
            </a:pPr>
            <a:r>
              <a:rPr lang="en-US" sz="2999" dirty="0">
                <a:solidFill>
                  <a:srgbClr val="000000"/>
                </a:solidFill>
                <a:latin typeface="DM Sans"/>
                <a:ea typeface="DM Sans"/>
                <a:cs typeface="DM Sans"/>
                <a:sym typeface="DM Sans"/>
              </a:rPr>
              <a:t>to evaluate and compare the models performance across different intersections of </a:t>
            </a:r>
          </a:p>
        </p:txBody>
      </p:sp>
      <p:sp>
        <p:nvSpPr>
          <p:cNvPr id="10" name="TextBox 10"/>
          <p:cNvSpPr txBox="1"/>
          <p:nvPr/>
        </p:nvSpPr>
        <p:spPr>
          <a:xfrm>
            <a:off x="2074136" y="7964494"/>
            <a:ext cx="4250464" cy="500522"/>
          </a:xfrm>
          <a:prstGeom prst="rect">
            <a:avLst/>
          </a:prstGeom>
        </p:spPr>
        <p:txBody>
          <a:bodyPr wrap="square" lIns="0" tIns="0" rIns="0" bIns="0" rtlCol="0" anchor="t">
            <a:spAutoFit/>
          </a:bodyPr>
          <a:lstStyle/>
          <a:p>
            <a:pPr algn="ctr">
              <a:lnSpc>
                <a:spcPts val="4059"/>
              </a:lnSpc>
              <a:spcBef>
                <a:spcPct val="0"/>
              </a:spcBef>
            </a:pPr>
            <a:r>
              <a:rPr lang="en-US" sz="2899" dirty="0">
                <a:solidFill>
                  <a:srgbClr val="000000"/>
                </a:solidFill>
                <a:latin typeface="DM Sans"/>
                <a:ea typeface="DM Sans"/>
                <a:cs typeface="DM Sans"/>
                <a:sym typeface="DM Sans"/>
              </a:rPr>
              <a:t>varying traffic volumes</a:t>
            </a:r>
          </a:p>
        </p:txBody>
      </p:sp>
      <p:sp>
        <p:nvSpPr>
          <p:cNvPr id="11" name="TextBox 11"/>
          <p:cNvSpPr txBox="1"/>
          <p:nvPr/>
        </p:nvSpPr>
        <p:spPr>
          <a:xfrm>
            <a:off x="963012" y="3597909"/>
            <a:ext cx="15950565" cy="513859"/>
          </a:xfrm>
          <a:prstGeom prst="rect">
            <a:avLst/>
          </a:prstGeom>
        </p:spPr>
        <p:txBody>
          <a:bodyPr lIns="0" tIns="0" rIns="0" bIns="0" rtlCol="0" anchor="t">
            <a:spAutoFit/>
          </a:bodyPr>
          <a:lstStyle/>
          <a:p>
            <a:pPr marL="647694" lvl="1" indent="-323847" algn="ctr">
              <a:lnSpc>
                <a:spcPts val="4199"/>
              </a:lnSpc>
              <a:buFont typeface="Arial"/>
              <a:buChar char="•"/>
            </a:pPr>
            <a:r>
              <a:rPr lang="en-US" sz="2999" dirty="0">
                <a:solidFill>
                  <a:srgbClr val="000000"/>
                </a:solidFill>
                <a:latin typeface="DM Sans"/>
                <a:ea typeface="DM Sans"/>
                <a:cs typeface="DM Sans"/>
                <a:sym typeface="DM Sans"/>
              </a:rPr>
              <a:t> Values between 10 and 25 gradually becomes more medium. Value 25 is fully medium.</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915984"/>
            <a:ext cx="16503107" cy="590772"/>
          </a:xfrm>
          <a:prstGeom prst="rect">
            <a:avLst/>
          </a:prstGeom>
        </p:spPr>
        <p:txBody>
          <a:bodyPr lIns="0" tIns="0" rIns="0" bIns="0" rtlCol="0" anchor="t">
            <a:spAutoFit/>
          </a:bodyPr>
          <a:lstStyle/>
          <a:p>
            <a:pPr algn="ctr">
              <a:lnSpc>
                <a:spcPts val="4119"/>
              </a:lnSpc>
            </a:pPr>
            <a:r>
              <a:rPr lang="en-US" sz="4246" b="1" u="sng">
                <a:solidFill>
                  <a:srgbClr val="1C2120"/>
                </a:solidFill>
                <a:latin typeface="Poppins Bold"/>
                <a:ea typeface="Poppins Bold"/>
                <a:cs typeface="Poppins Bold"/>
                <a:sym typeface="Poppins Bold"/>
              </a:rPr>
              <a:t>Q-LEARNING MODULE</a:t>
            </a:r>
          </a:p>
        </p:txBody>
      </p:sp>
      <p:sp>
        <p:nvSpPr>
          <p:cNvPr id="3" name="TextBox 3"/>
          <p:cNvSpPr txBox="1"/>
          <p:nvPr/>
        </p:nvSpPr>
        <p:spPr>
          <a:xfrm>
            <a:off x="1028700" y="4795198"/>
            <a:ext cx="3739422" cy="877567"/>
          </a:xfrm>
          <a:prstGeom prst="rect">
            <a:avLst/>
          </a:prstGeom>
        </p:spPr>
        <p:txBody>
          <a:bodyPr lIns="0" tIns="0" rIns="0" bIns="0" rtlCol="0" anchor="t">
            <a:spAutoFit/>
          </a:bodyPr>
          <a:lstStyle/>
          <a:p>
            <a:pPr algn="l">
              <a:lnSpc>
                <a:spcPts val="3314"/>
              </a:lnSpc>
            </a:pPr>
            <a:r>
              <a:rPr lang="en-US" sz="2832" b="1" u="sng">
                <a:solidFill>
                  <a:srgbClr val="000000"/>
                </a:solidFill>
                <a:latin typeface="Poppins Semi-Bold"/>
                <a:ea typeface="Poppins Semi-Bold"/>
                <a:cs typeface="Poppins Semi-Bold"/>
                <a:sym typeface="Poppins Semi-Bold"/>
              </a:rPr>
              <a:t>Learning Process</a:t>
            </a:r>
          </a:p>
          <a:p>
            <a:pPr algn="l">
              <a:lnSpc>
                <a:spcPts val="3314"/>
              </a:lnSpc>
            </a:pPr>
            <a:endParaRPr lang="en-US" sz="2832" b="1" u="sng">
              <a:solidFill>
                <a:srgbClr val="000000"/>
              </a:solidFill>
              <a:latin typeface="Poppins Semi-Bold"/>
              <a:ea typeface="Poppins Semi-Bold"/>
              <a:cs typeface="Poppins Semi-Bold"/>
              <a:sym typeface="Poppins Semi-Bold"/>
            </a:endParaRPr>
          </a:p>
        </p:txBody>
      </p:sp>
      <p:sp>
        <p:nvSpPr>
          <p:cNvPr id="4" name="TextBox 4"/>
          <p:cNvSpPr txBox="1"/>
          <p:nvPr/>
        </p:nvSpPr>
        <p:spPr>
          <a:xfrm>
            <a:off x="1028700" y="2717859"/>
            <a:ext cx="3361267" cy="1258492"/>
          </a:xfrm>
          <a:prstGeom prst="rect">
            <a:avLst/>
          </a:prstGeom>
        </p:spPr>
        <p:txBody>
          <a:bodyPr lIns="0" tIns="0" rIns="0" bIns="0" rtlCol="0" anchor="t">
            <a:spAutoFit/>
          </a:bodyPr>
          <a:lstStyle/>
          <a:p>
            <a:pPr algn="l">
              <a:lnSpc>
                <a:spcPts val="3291"/>
              </a:lnSpc>
            </a:pPr>
            <a:r>
              <a:rPr lang="en-US" sz="2812" b="1" u="sng">
                <a:solidFill>
                  <a:srgbClr val="000000"/>
                </a:solidFill>
                <a:latin typeface="Poppins Semi-Bold"/>
                <a:ea typeface="Poppins Semi-Bold"/>
                <a:cs typeface="Poppins Semi-Bold"/>
                <a:sym typeface="Poppins Semi-Bold"/>
              </a:rPr>
              <a:t>Input</a:t>
            </a:r>
          </a:p>
          <a:p>
            <a:pPr algn="l">
              <a:lnSpc>
                <a:spcPts val="3291"/>
              </a:lnSpc>
            </a:pPr>
            <a:endParaRPr lang="en-US" sz="2812" b="1" u="sng">
              <a:solidFill>
                <a:srgbClr val="000000"/>
              </a:solidFill>
              <a:latin typeface="Poppins Semi-Bold"/>
              <a:ea typeface="Poppins Semi-Bold"/>
              <a:cs typeface="Poppins Semi-Bold"/>
              <a:sym typeface="Poppins Semi-Bold"/>
            </a:endParaRPr>
          </a:p>
          <a:p>
            <a:pPr algn="l">
              <a:lnSpc>
                <a:spcPts val="3291"/>
              </a:lnSpc>
            </a:pPr>
            <a:endParaRPr lang="en-US" sz="2812" b="1" u="sng">
              <a:solidFill>
                <a:srgbClr val="000000"/>
              </a:solidFill>
              <a:latin typeface="Poppins Semi-Bold"/>
              <a:ea typeface="Poppins Semi-Bold"/>
              <a:cs typeface="Poppins Semi-Bold"/>
              <a:sym typeface="Poppins Semi-Bold"/>
            </a:endParaRPr>
          </a:p>
        </p:txBody>
      </p:sp>
      <p:sp>
        <p:nvSpPr>
          <p:cNvPr id="5" name="TextBox 5"/>
          <p:cNvSpPr txBox="1"/>
          <p:nvPr/>
        </p:nvSpPr>
        <p:spPr>
          <a:xfrm>
            <a:off x="1028700" y="1661977"/>
            <a:ext cx="2869085" cy="449153"/>
          </a:xfrm>
          <a:prstGeom prst="rect">
            <a:avLst/>
          </a:prstGeom>
        </p:spPr>
        <p:txBody>
          <a:bodyPr lIns="0" tIns="0" rIns="0" bIns="0" rtlCol="0" anchor="t">
            <a:spAutoFit/>
          </a:bodyPr>
          <a:lstStyle/>
          <a:p>
            <a:pPr algn="l">
              <a:lnSpc>
                <a:spcPts val="2650"/>
              </a:lnSpc>
            </a:pPr>
            <a:r>
              <a:rPr lang="en-US" sz="2732" b="1" u="sng">
                <a:solidFill>
                  <a:srgbClr val="1C2120"/>
                </a:solidFill>
                <a:latin typeface="Poppins Bold"/>
                <a:ea typeface="Poppins Bold"/>
                <a:cs typeface="Poppins Bold"/>
                <a:sym typeface="Poppins Bold"/>
              </a:rPr>
              <a:t>OBJECTIVE</a:t>
            </a:r>
          </a:p>
          <a:p>
            <a:pPr algn="l">
              <a:lnSpc>
                <a:spcPts val="751"/>
              </a:lnSpc>
            </a:pPr>
            <a:endParaRPr lang="en-US" sz="2732" b="1" u="sng">
              <a:solidFill>
                <a:srgbClr val="1C2120"/>
              </a:solidFill>
              <a:latin typeface="Poppins Bold"/>
              <a:ea typeface="Poppins Bold"/>
              <a:cs typeface="Poppins Bold"/>
              <a:sym typeface="Poppins Bold"/>
            </a:endParaRPr>
          </a:p>
        </p:txBody>
      </p:sp>
      <p:sp>
        <p:nvSpPr>
          <p:cNvPr id="6" name="TextBox 6"/>
          <p:cNvSpPr txBox="1"/>
          <p:nvPr/>
        </p:nvSpPr>
        <p:spPr>
          <a:xfrm>
            <a:off x="0" y="2187330"/>
            <a:ext cx="13329126" cy="455296"/>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DM Sans"/>
                <a:ea typeface="DM Sans"/>
                <a:cs typeface="DM Sans"/>
                <a:sym typeface="DM Sans"/>
              </a:rPr>
              <a:t>Dynamically fine-tunes green light duration to reduce congestion.</a:t>
            </a:r>
          </a:p>
        </p:txBody>
      </p:sp>
      <p:sp>
        <p:nvSpPr>
          <p:cNvPr id="7" name="TextBox 7"/>
          <p:cNvSpPr txBox="1"/>
          <p:nvPr/>
        </p:nvSpPr>
        <p:spPr>
          <a:xfrm>
            <a:off x="1134755" y="3080062"/>
            <a:ext cx="16290997" cy="976631"/>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DM Sans"/>
                <a:ea typeface="DM Sans"/>
                <a:cs typeface="DM Sans"/>
                <a:sym typeface="DM Sans"/>
              </a:rPr>
              <a:t>Discretized pairs of traffic density and average speed levels (low, medium, high) along with base green times from Fuzzy</a:t>
            </a:r>
          </a:p>
        </p:txBody>
      </p:sp>
      <p:sp>
        <p:nvSpPr>
          <p:cNvPr id="8" name="TextBox 8"/>
          <p:cNvSpPr txBox="1"/>
          <p:nvPr/>
        </p:nvSpPr>
        <p:spPr>
          <a:xfrm>
            <a:off x="1028700" y="4104318"/>
            <a:ext cx="1289447" cy="497841"/>
          </a:xfrm>
          <a:prstGeom prst="rect">
            <a:avLst/>
          </a:prstGeom>
        </p:spPr>
        <p:txBody>
          <a:bodyPr lIns="0" tIns="0" rIns="0" bIns="0" rtlCol="0" anchor="t">
            <a:spAutoFit/>
          </a:bodyPr>
          <a:lstStyle/>
          <a:p>
            <a:pPr algn="ctr">
              <a:lnSpc>
                <a:spcPts val="4059"/>
              </a:lnSpc>
              <a:spcBef>
                <a:spcPct val="0"/>
              </a:spcBef>
            </a:pPr>
            <a:r>
              <a:rPr lang="en-US" sz="2899" b="1" u="sng">
                <a:solidFill>
                  <a:srgbClr val="000000"/>
                </a:solidFill>
                <a:latin typeface="DM Sans Bold"/>
                <a:ea typeface="DM Sans Bold"/>
                <a:cs typeface="DM Sans Bold"/>
                <a:sym typeface="DM Sans Bold"/>
              </a:rPr>
              <a:t>Output</a:t>
            </a:r>
          </a:p>
        </p:txBody>
      </p:sp>
      <p:sp>
        <p:nvSpPr>
          <p:cNvPr id="9" name="TextBox 9"/>
          <p:cNvSpPr txBox="1"/>
          <p:nvPr/>
        </p:nvSpPr>
        <p:spPr>
          <a:xfrm>
            <a:off x="2085873" y="4132893"/>
            <a:ext cx="7711432" cy="481331"/>
          </a:xfrm>
          <a:prstGeom prst="rect">
            <a:avLst/>
          </a:prstGeom>
        </p:spPr>
        <p:txBody>
          <a:bodyPr lIns="0" tIns="0" rIns="0" bIns="0" rtlCol="0" anchor="t">
            <a:spAutoFit/>
          </a:bodyPr>
          <a:lstStyle/>
          <a:p>
            <a:pPr algn="ctr">
              <a:lnSpc>
                <a:spcPts val="3919"/>
              </a:lnSpc>
              <a:spcBef>
                <a:spcPct val="0"/>
              </a:spcBef>
            </a:pPr>
            <a:r>
              <a:rPr lang="en-US" sz="2799">
                <a:solidFill>
                  <a:srgbClr val="000000"/>
                </a:solidFill>
                <a:latin typeface="DM Sans"/>
                <a:ea typeface="DM Sans"/>
                <a:cs typeface="DM Sans"/>
                <a:sym typeface="DM Sans"/>
              </a:rPr>
              <a:t>Adjustment delta → final green time.</a:t>
            </a:r>
          </a:p>
        </p:txBody>
      </p:sp>
      <p:sp>
        <p:nvSpPr>
          <p:cNvPr id="10" name="TextBox 10"/>
          <p:cNvSpPr txBox="1"/>
          <p:nvPr/>
        </p:nvSpPr>
        <p:spPr>
          <a:xfrm>
            <a:off x="1521726" y="5394079"/>
            <a:ext cx="12343073" cy="481331"/>
          </a:xfrm>
          <a:prstGeom prst="rect">
            <a:avLst/>
          </a:prstGeom>
        </p:spPr>
        <p:txBody>
          <a:bodyPr lIns="0" tIns="0" rIns="0" bIns="0" rtlCol="0" anchor="t">
            <a:spAutoFit/>
          </a:bodyPr>
          <a:lstStyle/>
          <a:p>
            <a:pPr marL="604515" lvl="1" indent="-302257" algn="ctr">
              <a:lnSpc>
                <a:spcPts val="3919"/>
              </a:lnSpc>
              <a:spcBef>
                <a:spcPct val="0"/>
              </a:spcBef>
              <a:buFont typeface="Arial"/>
              <a:buChar char="•"/>
            </a:pPr>
            <a:r>
              <a:rPr lang="en-US" sz="2799">
                <a:solidFill>
                  <a:srgbClr val="000000"/>
                </a:solidFill>
                <a:latin typeface="DM Sans"/>
                <a:ea typeface="DM Sans"/>
                <a:cs typeface="DM Sans"/>
                <a:sym typeface="DM Sans"/>
              </a:rPr>
              <a:t>Chooses action (increase/decrease green time) based on traffic state</a:t>
            </a:r>
          </a:p>
        </p:txBody>
      </p:sp>
      <p:sp>
        <p:nvSpPr>
          <p:cNvPr id="11" name="TextBox 11"/>
          <p:cNvSpPr txBox="1"/>
          <p:nvPr/>
        </p:nvSpPr>
        <p:spPr>
          <a:xfrm>
            <a:off x="1521726" y="5999235"/>
            <a:ext cx="3614621" cy="481331"/>
          </a:xfrm>
          <a:prstGeom prst="rect">
            <a:avLst/>
          </a:prstGeom>
        </p:spPr>
        <p:txBody>
          <a:bodyPr lIns="0" tIns="0" rIns="0" bIns="0" rtlCol="0" anchor="t">
            <a:spAutoFit/>
          </a:bodyPr>
          <a:lstStyle/>
          <a:p>
            <a:pPr marL="604515" lvl="1" indent="-302257" algn="ctr">
              <a:lnSpc>
                <a:spcPts val="3919"/>
              </a:lnSpc>
              <a:spcBef>
                <a:spcPct val="0"/>
              </a:spcBef>
              <a:buFont typeface="Arial"/>
              <a:buChar char="•"/>
            </a:pPr>
            <a:r>
              <a:rPr lang="en-US" sz="2799">
                <a:solidFill>
                  <a:srgbClr val="000000"/>
                </a:solidFill>
                <a:latin typeface="DM Sans"/>
                <a:ea typeface="DM Sans"/>
                <a:cs typeface="DM Sans"/>
                <a:sym typeface="DM Sans"/>
              </a:rPr>
              <a:t>Receives reward:</a:t>
            </a:r>
          </a:p>
        </p:txBody>
      </p:sp>
      <p:sp>
        <p:nvSpPr>
          <p:cNvPr id="12" name="TextBox 12"/>
          <p:cNvSpPr txBox="1"/>
          <p:nvPr/>
        </p:nvSpPr>
        <p:spPr>
          <a:xfrm>
            <a:off x="-4758795" y="6604391"/>
            <a:ext cx="24904115" cy="1472091"/>
          </a:xfrm>
          <a:prstGeom prst="rect">
            <a:avLst/>
          </a:prstGeom>
        </p:spPr>
        <p:txBody>
          <a:bodyPr lIns="0" tIns="0" rIns="0" bIns="0" rtlCol="0" anchor="t">
            <a:spAutoFit/>
          </a:bodyPr>
          <a:lstStyle/>
          <a:p>
            <a:pPr marL="1209029" lvl="2" indent="-403010" algn="ctr">
              <a:lnSpc>
                <a:spcPts val="3919"/>
              </a:lnSpc>
              <a:buFont typeface="Arial"/>
              <a:buChar char="⚬"/>
            </a:pPr>
            <a:r>
              <a:rPr lang="en-US" sz="2799">
                <a:solidFill>
                  <a:srgbClr val="000000"/>
                </a:solidFill>
                <a:latin typeface="DM Sans"/>
                <a:ea typeface="DM Sans"/>
                <a:cs typeface="DM Sans"/>
                <a:sym typeface="DM Sans"/>
              </a:rPr>
              <a:t>If traffic improves (shorter queues, smoother flow), it gets a reward. </a:t>
            </a:r>
          </a:p>
          <a:p>
            <a:pPr marL="1209029" lvl="2" indent="-403010" algn="ctr">
              <a:lnSpc>
                <a:spcPts val="3919"/>
              </a:lnSpc>
              <a:buFont typeface="Arial"/>
              <a:buChar char="⚬"/>
            </a:pPr>
            <a:r>
              <a:rPr lang="en-US" sz="2799">
                <a:solidFill>
                  <a:srgbClr val="000000"/>
                </a:solidFill>
                <a:latin typeface="DM Sans"/>
                <a:ea typeface="DM Sans"/>
                <a:cs typeface="DM Sans"/>
                <a:sym typeface="DM Sans"/>
              </a:rPr>
              <a:t>               If traffic worsens (longer queues, abrupt changes in timing), it gets a penalty.</a:t>
            </a:r>
          </a:p>
          <a:p>
            <a:pPr marL="604515" lvl="1" indent="-302257" algn="ctr">
              <a:lnSpc>
                <a:spcPts val="3919"/>
              </a:lnSpc>
              <a:buFont typeface="Arial"/>
              <a:buChar char="•"/>
            </a:pPr>
            <a:endParaRPr lang="en-US" sz="2799">
              <a:solidFill>
                <a:srgbClr val="000000"/>
              </a:solidFill>
              <a:latin typeface="DM Sans"/>
              <a:ea typeface="DM Sans"/>
              <a:cs typeface="DM Sans"/>
              <a:sym typeface="DM Sans"/>
            </a:endParaRPr>
          </a:p>
        </p:txBody>
      </p:sp>
      <p:sp>
        <p:nvSpPr>
          <p:cNvPr id="13" name="TextBox 13"/>
          <p:cNvSpPr txBox="1"/>
          <p:nvPr/>
        </p:nvSpPr>
        <p:spPr>
          <a:xfrm>
            <a:off x="1521726" y="7683522"/>
            <a:ext cx="11051444" cy="481331"/>
          </a:xfrm>
          <a:prstGeom prst="rect">
            <a:avLst/>
          </a:prstGeom>
        </p:spPr>
        <p:txBody>
          <a:bodyPr lIns="0" tIns="0" rIns="0" bIns="0" rtlCol="0" anchor="t">
            <a:spAutoFit/>
          </a:bodyPr>
          <a:lstStyle/>
          <a:p>
            <a:pPr marL="604515" lvl="1" indent="-302257" algn="ctr">
              <a:lnSpc>
                <a:spcPts val="3919"/>
              </a:lnSpc>
              <a:spcBef>
                <a:spcPct val="0"/>
              </a:spcBef>
              <a:buFont typeface="Arial"/>
              <a:buChar char="•"/>
            </a:pPr>
            <a:r>
              <a:rPr lang="en-US" sz="2799">
                <a:solidFill>
                  <a:srgbClr val="000000"/>
                </a:solidFill>
                <a:latin typeface="DM Sans"/>
                <a:ea typeface="DM Sans"/>
                <a:cs typeface="DM Sans"/>
                <a:sym typeface="DM Sans"/>
              </a:rPr>
              <a:t>Updates Q-table to learn optimal green time policy over time</a:t>
            </a:r>
          </a:p>
        </p:txBody>
      </p:sp>
      <p:sp>
        <p:nvSpPr>
          <p:cNvPr id="14" name="TextBox 14"/>
          <p:cNvSpPr txBox="1"/>
          <p:nvPr/>
        </p:nvSpPr>
        <p:spPr>
          <a:xfrm>
            <a:off x="1010832" y="8362310"/>
            <a:ext cx="4125516" cy="504826"/>
          </a:xfrm>
          <a:prstGeom prst="rect">
            <a:avLst/>
          </a:prstGeom>
        </p:spPr>
        <p:txBody>
          <a:bodyPr lIns="0" tIns="0" rIns="0" bIns="0" rtlCol="0" anchor="t">
            <a:spAutoFit/>
          </a:bodyPr>
          <a:lstStyle/>
          <a:p>
            <a:pPr algn="ctr">
              <a:lnSpc>
                <a:spcPts val="4199"/>
              </a:lnSpc>
              <a:spcBef>
                <a:spcPct val="0"/>
              </a:spcBef>
            </a:pPr>
            <a:r>
              <a:rPr lang="en-US" sz="2999" b="1" u="sng">
                <a:solidFill>
                  <a:srgbClr val="000000"/>
                </a:solidFill>
                <a:latin typeface="DM Sans Bold"/>
                <a:ea typeface="DM Sans Bold"/>
                <a:cs typeface="DM Sans Bold"/>
                <a:sym typeface="DM Sans Bold"/>
              </a:rPr>
              <a:t>Integration with Fuzzy </a:t>
            </a:r>
          </a:p>
        </p:txBody>
      </p:sp>
      <p:sp>
        <p:nvSpPr>
          <p:cNvPr id="15" name="TextBox 15"/>
          <p:cNvSpPr txBox="1"/>
          <p:nvPr/>
        </p:nvSpPr>
        <p:spPr>
          <a:xfrm>
            <a:off x="1521726" y="8989060"/>
            <a:ext cx="8045472" cy="481331"/>
          </a:xfrm>
          <a:prstGeom prst="rect">
            <a:avLst/>
          </a:prstGeom>
        </p:spPr>
        <p:txBody>
          <a:bodyPr lIns="0" tIns="0" rIns="0" bIns="0" rtlCol="0" anchor="t">
            <a:spAutoFit/>
          </a:bodyPr>
          <a:lstStyle/>
          <a:p>
            <a:pPr marL="604515" lvl="1" indent="-302257" algn="ctr">
              <a:lnSpc>
                <a:spcPts val="3919"/>
              </a:lnSpc>
              <a:spcBef>
                <a:spcPct val="0"/>
              </a:spcBef>
              <a:buFont typeface="Arial"/>
              <a:buChar char="•"/>
            </a:pPr>
            <a:r>
              <a:rPr lang="en-US" sz="2799">
                <a:solidFill>
                  <a:srgbClr val="000000"/>
                </a:solidFill>
                <a:latin typeface="DM Sans"/>
                <a:ea typeface="DM Sans"/>
                <a:cs typeface="DM Sans"/>
                <a:sym typeface="DM Sans"/>
              </a:rPr>
              <a:t>Uses fuzzy base green time as starting point</a:t>
            </a:r>
          </a:p>
        </p:txBody>
      </p:sp>
      <p:sp>
        <p:nvSpPr>
          <p:cNvPr id="16" name="TextBox 16"/>
          <p:cNvSpPr txBox="1"/>
          <p:nvPr/>
        </p:nvSpPr>
        <p:spPr>
          <a:xfrm>
            <a:off x="1521726" y="9515154"/>
            <a:ext cx="8713466" cy="481331"/>
          </a:xfrm>
          <a:prstGeom prst="rect">
            <a:avLst/>
          </a:prstGeom>
        </p:spPr>
        <p:txBody>
          <a:bodyPr lIns="0" tIns="0" rIns="0" bIns="0" rtlCol="0" anchor="t">
            <a:spAutoFit/>
          </a:bodyPr>
          <a:lstStyle/>
          <a:p>
            <a:pPr marL="604515" lvl="1" indent="-302257" algn="ctr">
              <a:lnSpc>
                <a:spcPts val="3919"/>
              </a:lnSpc>
              <a:spcBef>
                <a:spcPct val="0"/>
              </a:spcBef>
              <a:buFont typeface="Arial"/>
              <a:buChar char="•"/>
            </a:pPr>
            <a:r>
              <a:rPr lang="en-US" sz="2799">
                <a:solidFill>
                  <a:srgbClr val="000000"/>
                </a:solidFill>
                <a:latin typeface="DM Sans"/>
                <a:ea typeface="DM Sans"/>
                <a:cs typeface="DM Sans"/>
                <a:sym typeface="DM Sans"/>
              </a:rPr>
              <a:t>Adjusts it adaptively to complement fuzzy logic</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BFBFA"/>
        </a:solidFill>
        <a:effectLst/>
      </p:bgPr>
    </p:bg>
    <p:spTree>
      <p:nvGrpSpPr>
        <p:cNvPr id="1" name=""/>
        <p:cNvGrpSpPr/>
        <p:nvPr/>
      </p:nvGrpSpPr>
      <p:grpSpPr>
        <a:xfrm>
          <a:off x="0" y="0"/>
          <a:ext cx="0" cy="0"/>
          <a:chOff x="0" y="0"/>
          <a:chExt cx="0" cy="0"/>
        </a:xfrm>
      </p:grpSpPr>
      <p:sp>
        <p:nvSpPr>
          <p:cNvPr id="2" name="Freeform 2"/>
          <p:cNvSpPr/>
          <p:nvPr/>
        </p:nvSpPr>
        <p:spPr>
          <a:xfrm>
            <a:off x="3493371" y="1867919"/>
            <a:ext cx="11301259" cy="5481111"/>
          </a:xfrm>
          <a:custGeom>
            <a:avLst/>
            <a:gdLst/>
            <a:ahLst/>
            <a:cxnLst/>
            <a:rect l="l" t="t" r="r" b="b"/>
            <a:pathLst>
              <a:path w="11301259" h="5481111">
                <a:moveTo>
                  <a:pt x="0" y="0"/>
                </a:moveTo>
                <a:lnTo>
                  <a:pt x="11301258" y="0"/>
                </a:lnTo>
                <a:lnTo>
                  <a:pt x="11301258" y="5481111"/>
                </a:lnTo>
                <a:lnTo>
                  <a:pt x="0" y="5481111"/>
                </a:lnTo>
                <a:lnTo>
                  <a:pt x="0" y="0"/>
                </a:lnTo>
                <a:close/>
              </a:path>
            </a:pathLst>
          </a:custGeom>
          <a:blipFill>
            <a:blip r:embed="rId2"/>
            <a:stretch>
              <a:fillRect/>
            </a:stretch>
          </a:blipFill>
        </p:spPr>
      </p:sp>
      <p:sp>
        <p:nvSpPr>
          <p:cNvPr id="3" name="TextBox 3"/>
          <p:cNvSpPr txBox="1"/>
          <p:nvPr/>
        </p:nvSpPr>
        <p:spPr>
          <a:xfrm>
            <a:off x="1181100" y="1068387"/>
            <a:ext cx="16503107" cy="590767"/>
          </a:xfrm>
          <a:prstGeom prst="rect">
            <a:avLst/>
          </a:prstGeom>
        </p:spPr>
        <p:txBody>
          <a:bodyPr lIns="0" tIns="0" rIns="0" bIns="0" rtlCol="0" anchor="t">
            <a:spAutoFit/>
          </a:bodyPr>
          <a:lstStyle/>
          <a:p>
            <a:pPr algn="ctr">
              <a:lnSpc>
                <a:spcPts val="4119"/>
              </a:lnSpc>
            </a:pPr>
            <a:r>
              <a:rPr lang="en-US" sz="4246" b="1" u="sng">
                <a:solidFill>
                  <a:srgbClr val="1C2120"/>
                </a:solidFill>
                <a:latin typeface="Poppins Bold"/>
                <a:ea typeface="Poppins Bold"/>
                <a:cs typeface="Poppins Bold"/>
                <a:sym typeface="Poppins Bold"/>
              </a:rPr>
              <a:t>CODE WALKTHROUGH </a:t>
            </a:r>
          </a:p>
        </p:txBody>
      </p:sp>
      <p:sp>
        <p:nvSpPr>
          <p:cNvPr id="4" name="TextBox 4"/>
          <p:cNvSpPr txBox="1"/>
          <p:nvPr/>
        </p:nvSpPr>
        <p:spPr>
          <a:xfrm>
            <a:off x="-4606395" y="7786209"/>
            <a:ext cx="24904115" cy="1967444"/>
          </a:xfrm>
          <a:prstGeom prst="rect">
            <a:avLst/>
          </a:prstGeom>
        </p:spPr>
        <p:txBody>
          <a:bodyPr lIns="0" tIns="0" rIns="0" bIns="0" rtlCol="0" anchor="t">
            <a:spAutoFit/>
          </a:bodyPr>
          <a:lstStyle/>
          <a:p>
            <a:pPr algn="ctr">
              <a:lnSpc>
                <a:spcPts val="3919"/>
              </a:lnSpc>
            </a:pPr>
            <a:r>
              <a:rPr lang="en-US" sz="2799">
                <a:solidFill>
                  <a:srgbClr val="000000"/>
                </a:solidFill>
                <a:latin typeface="DM Sans"/>
                <a:ea typeface="DM Sans"/>
                <a:cs typeface="DM Sans"/>
                <a:sym typeface="DM Sans"/>
              </a:rPr>
              <a:t>Initializes learning parameters and Q-table</a:t>
            </a:r>
          </a:p>
          <a:p>
            <a:pPr algn="ctr">
              <a:lnSpc>
                <a:spcPts val="3919"/>
              </a:lnSpc>
            </a:pPr>
            <a:r>
              <a:rPr lang="en-US" sz="2799">
                <a:solidFill>
                  <a:srgbClr val="000000"/>
                </a:solidFill>
                <a:latin typeface="DM Sans"/>
                <a:ea typeface="DM Sans"/>
                <a:cs typeface="DM Sans"/>
                <a:sym typeface="DM Sans"/>
              </a:rPr>
              <a:t> Picks actions using exploration/exploitation</a:t>
            </a:r>
          </a:p>
          <a:p>
            <a:pPr algn="ctr">
              <a:lnSpc>
                <a:spcPts val="3919"/>
              </a:lnSpc>
            </a:pPr>
            <a:r>
              <a:rPr lang="en-US" sz="2799">
                <a:solidFill>
                  <a:srgbClr val="000000"/>
                </a:solidFill>
                <a:latin typeface="DM Sans"/>
                <a:ea typeface="DM Sans"/>
                <a:cs typeface="DM Sans"/>
                <a:sym typeface="DM Sans"/>
              </a:rPr>
              <a:t>     Learns from reward to improve future choices</a:t>
            </a:r>
          </a:p>
          <a:p>
            <a:pPr algn="ctr">
              <a:lnSpc>
                <a:spcPts val="3919"/>
              </a:lnSpc>
            </a:pPr>
            <a:endParaRPr lang="en-US" sz="2799">
              <a:solidFill>
                <a:srgbClr val="000000"/>
              </a:solidFill>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202572" y="1693544"/>
            <a:ext cx="13990120" cy="6983731"/>
          </a:xfrm>
          <a:prstGeom prst="rect">
            <a:avLst/>
          </a:prstGeom>
        </p:spPr>
        <p:txBody>
          <a:bodyPr lIns="0" tIns="0" rIns="0" bIns="0" rtlCol="0" anchor="t">
            <a:spAutoFit/>
          </a:bodyPr>
          <a:lstStyle/>
          <a:p>
            <a:pPr algn="l">
              <a:lnSpc>
                <a:spcPts val="4619"/>
              </a:lnSpc>
            </a:pPr>
            <a:r>
              <a:rPr lang="en-US" sz="3299" b="1">
                <a:solidFill>
                  <a:srgbClr val="000000"/>
                </a:solidFill>
                <a:latin typeface="Poppins Bold"/>
                <a:ea typeface="Poppins Bold"/>
                <a:cs typeface="Poppins Bold"/>
                <a:sym typeface="Poppins Bold"/>
              </a:rPr>
              <a:t>Ingestion</a:t>
            </a:r>
            <a:r>
              <a:rPr lang="en-US" sz="3299">
                <a:solidFill>
                  <a:srgbClr val="000000"/>
                </a:solidFill>
                <a:latin typeface="Poppins"/>
                <a:ea typeface="Poppins"/>
                <a:cs typeface="Poppins"/>
                <a:sym typeface="Poppins"/>
              </a:rPr>
              <a:t>: The process begins with the trained CI Model received as a CSV file directly from the CI department. </a:t>
            </a:r>
          </a:p>
          <a:p>
            <a:pPr algn="l">
              <a:lnSpc>
                <a:spcPts val="4619"/>
              </a:lnSpc>
              <a:spcBef>
                <a:spcPct val="0"/>
              </a:spcBef>
            </a:pPr>
            <a:endParaRPr lang="en-US" sz="3299">
              <a:solidFill>
                <a:srgbClr val="000000"/>
              </a:solidFill>
              <a:latin typeface="Poppins"/>
              <a:ea typeface="Poppins"/>
              <a:cs typeface="Poppins"/>
              <a:sym typeface="Poppins"/>
            </a:endParaRPr>
          </a:p>
          <a:p>
            <a:pPr algn="l">
              <a:lnSpc>
                <a:spcPts val="4619"/>
              </a:lnSpc>
              <a:spcBef>
                <a:spcPct val="0"/>
              </a:spcBef>
            </a:pPr>
            <a:r>
              <a:rPr lang="en-US" sz="3299" b="1">
                <a:solidFill>
                  <a:srgbClr val="000000"/>
                </a:solidFill>
                <a:latin typeface="Poppins Bold"/>
                <a:ea typeface="Poppins Bold"/>
                <a:cs typeface="Poppins Bold"/>
                <a:sym typeface="Poppins Bold"/>
              </a:rPr>
              <a:t>Processing</a:t>
            </a:r>
            <a:r>
              <a:rPr lang="en-US" sz="3299">
                <a:solidFill>
                  <a:srgbClr val="000000"/>
                </a:solidFill>
                <a:latin typeface="Poppins"/>
                <a:ea typeface="Poppins"/>
                <a:cs typeface="Poppins"/>
                <a:sym typeface="Poppins"/>
              </a:rPr>
              <a:t>: Reads the trained CI model from ci_output.csv.</a:t>
            </a:r>
          </a:p>
          <a:p>
            <a:pPr algn="l">
              <a:lnSpc>
                <a:spcPts val="4619"/>
              </a:lnSpc>
              <a:spcBef>
                <a:spcPct val="0"/>
              </a:spcBef>
            </a:pPr>
            <a:r>
              <a:rPr lang="en-US" sz="3299">
                <a:solidFill>
                  <a:srgbClr val="000000"/>
                </a:solidFill>
                <a:latin typeface="Poppins"/>
                <a:ea typeface="Poppins"/>
                <a:cs typeface="Poppins"/>
                <a:sym typeface="Poppins"/>
              </a:rPr>
              <a:t>Uses live SUMO lane metrics </a:t>
            </a:r>
          </a:p>
          <a:p>
            <a:pPr algn="l">
              <a:lnSpc>
                <a:spcPts val="4619"/>
              </a:lnSpc>
              <a:spcBef>
                <a:spcPct val="0"/>
              </a:spcBef>
            </a:pPr>
            <a:r>
              <a:rPr lang="en-US" sz="3299">
                <a:solidFill>
                  <a:srgbClr val="000000"/>
                </a:solidFill>
                <a:latin typeface="Poppins"/>
                <a:ea typeface="Poppins"/>
                <a:cs typeface="Poppins"/>
                <a:sym typeface="Poppins"/>
              </a:rPr>
              <a:t>(queue, vehicle count, density, occupancy, avg speed).</a:t>
            </a:r>
          </a:p>
          <a:p>
            <a:pPr algn="l">
              <a:lnSpc>
                <a:spcPts val="4619"/>
              </a:lnSpc>
              <a:spcBef>
                <a:spcPct val="0"/>
              </a:spcBef>
            </a:pPr>
            <a:r>
              <a:rPr lang="en-US" sz="3299">
                <a:solidFill>
                  <a:srgbClr val="000000"/>
                </a:solidFill>
                <a:latin typeface="Poppins"/>
                <a:ea typeface="Poppins"/>
                <a:cs typeface="Poppins"/>
                <a:sym typeface="Poppins"/>
              </a:rPr>
              <a:t>Predicts a green light duration (suggested_green_fuzzy from the CI model). Applies that to your traffic light MY_TLS.</a:t>
            </a:r>
          </a:p>
          <a:p>
            <a:pPr algn="l">
              <a:lnSpc>
                <a:spcPts val="4619"/>
              </a:lnSpc>
              <a:spcBef>
                <a:spcPct val="0"/>
              </a:spcBef>
            </a:pPr>
            <a:endParaRPr lang="en-US" sz="3299">
              <a:solidFill>
                <a:srgbClr val="000000"/>
              </a:solidFill>
              <a:latin typeface="Poppins"/>
              <a:ea typeface="Poppins"/>
              <a:cs typeface="Poppins"/>
              <a:sym typeface="Poppins"/>
            </a:endParaRPr>
          </a:p>
          <a:p>
            <a:pPr algn="l">
              <a:lnSpc>
                <a:spcPts val="4619"/>
              </a:lnSpc>
              <a:spcBef>
                <a:spcPct val="0"/>
              </a:spcBef>
            </a:pPr>
            <a:endParaRPr lang="en-US" sz="3299">
              <a:solidFill>
                <a:srgbClr val="000000"/>
              </a:solidFill>
              <a:latin typeface="Poppins"/>
              <a:ea typeface="Poppins"/>
              <a:cs typeface="Poppins"/>
              <a:sym typeface="Poppins"/>
            </a:endParaRPr>
          </a:p>
          <a:p>
            <a:pPr algn="l">
              <a:lnSpc>
                <a:spcPts val="4619"/>
              </a:lnSpc>
              <a:spcBef>
                <a:spcPct val="0"/>
              </a:spcBef>
            </a:pPr>
            <a:endParaRPr lang="en-US" sz="3299">
              <a:solidFill>
                <a:srgbClr val="000000"/>
              </a:solidFill>
              <a:latin typeface="Poppins"/>
              <a:ea typeface="Poppins"/>
              <a:cs typeface="Poppins"/>
              <a:sym typeface="Poppins"/>
            </a:endParaRPr>
          </a:p>
          <a:p>
            <a:pPr algn="l">
              <a:lnSpc>
                <a:spcPts val="4619"/>
              </a:lnSpc>
              <a:spcBef>
                <a:spcPct val="0"/>
              </a:spcBef>
            </a:pPr>
            <a:endParaRPr lang="en-US" sz="3299">
              <a:solidFill>
                <a:srgbClr val="000000"/>
              </a:solidFill>
              <a:latin typeface="Poppins"/>
              <a:ea typeface="Poppins"/>
              <a:cs typeface="Poppins"/>
              <a:sym typeface="Poppins"/>
            </a:endParaRPr>
          </a:p>
        </p:txBody>
      </p:sp>
      <p:sp>
        <p:nvSpPr>
          <p:cNvPr id="3" name="Freeform 3"/>
          <p:cNvSpPr/>
          <p:nvPr/>
        </p:nvSpPr>
        <p:spPr>
          <a:xfrm>
            <a:off x="2789913" y="6489213"/>
            <a:ext cx="10815438" cy="3797787"/>
          </a:xfrm>
          <a:custGeom>
            <a:avLst/>
            <a:gdLst/>
            <a:ahLst/>
            <a:cxnLst/>
            <a:rect l="l" t="t" r="r" b="b"/>
            <a:pathLst>
              <a:path w="10815438" h="3797787">
                <a:moveTo>
                  <a:pt x="0" y="0"/>
                </a:moveTo>
                <a:lnTo>
                  <a:pt x="10815438" y="0"/>
                </a:lnTo>
                <a:lnTo>
                  <a:pt x="10815438" y="3797787"/>
                </a:lnTo>
                <a:lnTo>
                  <a:pt x="0" y="3797787"/>
                </a:lnTo>
                <a:lnTo>
                  <a:pt x="0" y="0"/>
                </a:lnTo>
                <a:close/>
              </a:path>
            </a:pathLst>
          </a:custGeom>
          <a:blipFill>
            <a:blip r:embed="rId2"/>
            <a:stretch>
              <a:fillRect/>
            </a:stretch>
          </a:blipFill>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69687" y="3341638"/>
            <a:ext cx="11516617" cy="5916662"/>
          </a:xfrm>
          <a:custGeom>
            <a:avLst/>
            <a:gdLst/>
            <a:ahLst/>
            <a:cxnLst/>
            <a:rect l="l" t="t" r="r" b="b"/>
            <a:pathLst>
              <a:path w="11516617" h="5916662">
                <a:moveTo>
                  <a:pt x="0" y="0"/>
                </a:moveTo>
                <a:lnTo>
                  <a:pt x="11516617" y="0"/>
                </a:lnTo>
                <a:lnTo>
                  <a:pt x="11516617" y="5916662"/>
                </a:lnTo>
                <a:lnTo>
                  <a:pt x="0" y="5916662"/>
                </a:lnTo>
                <a:lnTo>
                  <a:pt x="0" y="0"/>
                </a:lnTo>
                <a:close/>
              </a:path>
            </a:pathLst>
          </a:custGeom>
          <a:blipFill>
            <a:blip r:embed="rId2"/>
            <a:stretch>
              <a:fillRect/>
            </a:stretch>
          </a:blipFill>
        </p:spPr>
      </p:sp>
      <p:sp>
        <p:nvSpPr>
          <p:cNvPr id="3" name="TextBox 3"/>
          <p:cNvSpPr txBox="1"/>
          <p:nvPr/>
        </p:nvSpPr>
        <p:spPr>
          <a:xfrm>
            <a:off x="1347255" y="914400"/>
            <a:ext cx="15696618" cy="1954363"/>
          </a:xfrm>
          <a:prstGeom prst="rect">
            <a:avLst/>
          </a:prstGeom>
        </p:spPr>
        <p:txBody>
          <a:bodyPr lIns="0" tIns="0" rIns="0" bIns="0" rtlCol="0" anchor="t">
            <a:spAutoFit/>
          </a:bodyPr>
          <a:lstStyle/>
          <a:p>
            <a:pPr algn="ctr">
              <a:lnSpc>
                <a:spcPts val="5136"/>
              </a:lnSpc>
              <a:spcBef>
                <a:spcPct val="0"/>
              </a:spcBef>
            </a:pPr>
            <a:r>
              <a:rPr lang="en-US" sz="3669" b="1">
                <a:solidFill>
                  <a:srgbClr val="000000"/>
                </a:solidFill>
                <a:latin typeface="Poppins Bold"/>
                <a:ea typeface="Poppins Bold"/>
                <a:cs typeface="Poppins Bold"/>
                <a:sym typeface="Poppins Bold"/>
              </a:rPr>
              <a:t>Output: </a:t>
            </a:r>
            <a:r>
              <a:rPr lang="en-US" sz="3669">
                <a:solidFill>
                  <a:srgbClr val="000000"/>
                </a:solidFill>
                <a:latin typeface="Poppins"/>
                <a:ea typeface="Poppins"/>
                <a:cs typeface="Poppins"/>
                <a:sym typeface="Poppins"/>
              </a:rPr>
              <a:t>The result of this analysis is a new CSV file. This file contains the processed data and serves as a local edge node for the next stage of the operation.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28700" y="2009716"/>
            <a:ext cx="14536415" cy="2482851"/>
          </a:xfrm>
          <a:prstGeom prst="rect">
            <a:avLst/>
          </a:prstGeom>
        </p:spPr>
        <p:txBody>
          <a:bodyPr lIns="0" tIns="0" rIns="0" bIns="0" rtlCol="0" anchor="t">
            <a:spAutoFit/>
          </a:bodyPr>
          <a:lstStyle/>
          <a:p>
            <a:pPr algn="l">
              <a:lnSpc>
                <a:spcPts val="4899"/>
              </a:lnSpc>
              <a:spcBef>
                <a:spcPct val="0"/>
              </a:spcBef>
            </a:pPr>
            <a:r>
              <a:rPr lang="en-US" sz="3499" b="1">
                <a:solidFill>
                  <a:srgbClr val="000000"/>
                </a:solidFill>
                <a:latin typeface="Poppins Bold"/>
                <a:ea typeface="Poppins Bold"/>
                <a:cs typeface="Poppins Bold"/>
                <a:sym typeface="Poppins Bold"/>
              </a:rPr>
              <a:t>Edge Node Preprocessing</a:t>
            </a:r>
          </a:p>
          <a:p>
            <a:pPr marL="755641" lvl="1" indent="-377820" algn="l">
              <a:lnSpc>
                <a:spcPts val="4899"/>
              </a:lnSpc>
              <a:buFont typeface="Arial"/>
              <a:buChar char="•"/>
            </a:pPr>
            <a:r>
              <a:rPr lang="en-US" sz="3499">
                <a:solidFill>
                  <a:srgbClr val="000000"/>
                </a:solidFill>
                <a:latin typeface="Poppins"/>
                <a:ea typeface="Poppins"/>
                <a:cs typeface="Poppins"/>
                <a:sym typeface="Poppins"/>
              </a:rPr>
              <a:t>The processed CSV file acts as an edge node.</a:t>
            </a:r>
          </a:p>
          <a:p>
            <a:pPr marL="755641" lvl="1" indent="-377820" algn="l">
              <a:lnSpc>
                <a:spcPts val="4899"/>
              </a:lnSpc>
              <a:buFont typeface="Arial"/>
              <a:buChar char="•"/>
            </a:pPr>
            <a:r>
              <a:rPr lang="en-US" sz="3499">
                <a:solidFill>
                  <a:srgbClr val="000000"/>
                </a:solidFill>
                <a:latin typeface="Poppins"/>
                <a:ea typeface="Poppins"/>
                <a:cs typeface="Poppins"/>
                <a:sym typeface="Poppins"/>
              </a:rPr>
              <a:t>It preprocesses the raw data locally for efficiency.</a:t>
            </a:r>
          </a:p>
          <a:p>
            <a:pPr marL="755641" lvl="1" indent="-377820" algn="l">
              <a:lnSpc>
                <a:spcPts val="4899"/>
              </a:lnSpc>
              <a:buFont typeface="Arial"/>
              <a:buChar char="•"/>
            </a:pPr>
            <a:r>
              <a:rPr lang="en-US" sz="3499">
                <a:solidFill>
                  <a:srgbClr val="000000"/>
                </a:solidFill>
                <a:latin typeface="Poppins"/>
                <a:ea typeface="Poppins"/>
                <a:cs typeface="Poppins"/>
                <a:sym typeface="Poppins"/>
              </a:rPr>
              <a:t>Green light duration values are extracted from every five rows.</a:t>
            </a:r>
          </a:p>
        </p:txBody>
      </p:sp>
      <p:sp>
        <p:nvSpPr>
          <p:cNvPr id="3" name="TextBox 3"/>
          <p:cNvSpPr txBox="1"/>
          <p:nvPr/>
        </p:nvSpPr>
        <p:spPr>
          <a:xfrm>
            <a:off x="1028700" y="5209419"/>
            <a:ext cx="15760526" cy="2482851"/>
          </a:xfrm>
          <a:prstGeom prst="rect">
            <a:avLst/>
          </a:prstGeom>
        </p:spPr>
        <p:txBody>
          <a:bodyPr lIns="0" tIns="0" rIns="0" bIns="0" rtlCol="0" anchor="t">
            <a:spAutoFit/>
          </a:bodyPr>
          <a:lstStyle/>
          <a:p>
            <a:pPr algn="l">
              <a:lnSpc>
                <a:spcPts val="4899"/>
              </a:lnSpc>
              <a:spcBef>
                <a:spcPct val="0"/>
              </a:spcBef>
            </a:pPr>
            <a:r>
              <a:rPr lang="en-US" sz="3499" b="1">
                <a:solidFill>
                  <a:srgbClr val="000000"/>
                </a:solidFill>
                <a:latin typeface="Poppins Bold"/>
                <a:ea typeface="Poppins Bold"/>
                <a:cs typeface="Poppins Bold"/>
                <a:sym typeface="Poppins Bold"/>
              </a:rPr>
              <a:t>Cloud Backup &amp; Decision-Making</a:t>
            </a:r>
          </a:p>
          <a:p>
            <a:pPr marL="755641" lvl="1" indent="-377820" algn="l">
              <a:lnSpc>
                <a:spcPts val="4899"/>
              </a:lnSpc>
              <a:buFont typeface="Arial"/>
              <a:buChar char="•"/>
            </a:pPr>
            <a:r>
              <a:rPr lang="en-US" sz="3499">
                <a:solidFill>
                  <a:srgbClr val="000000"/>
                </a:solidFill>
                <a:latin typeface="Poppins"/>
                <a:ea typeface="Poppins"/>
                <a:cs typeface="Poppins"/>
                <a:sym typeface="Poppins"/>
              </a:rPr>
              <a:t>Extracted values are sent to the backup cloud.</a:t>
            </a:r>
          </a:p>
          <a:p>
            <a:pPr marL="755641" lvl="1" indent="-377820" algn="l">
              <a:lnSpc>
                <a:spcPts val="4899"/>
              </a:lnSpc>
              <a:buFont typeface="Arial"/>
              <a:buChar char="•"/>
            </a:pPr>
            <a:r>
              <a:rPr lang="en-US" sz="3499">
                <a:solidFill>
                  <a:srgbClr val="000000"/>
                </a:solidFill>
                <a:latin typeface="Poppins"/>
                <a:ea typeface="Poppins"/>
                <a:cs typeface="Poppins"/>
                <a:sym typeface="Poppins"/>
              </a:rPr>
              <a:t>The cloud performs the final stage of decision-making.</a:t>
            </a:r>
          </a:p>
          <a:p>
            <a:pPr marL="755641" lvl="1" indent="-377820" algn="l">
              <a:lnSpc>
                <a:spcPts val="4899"/>
              </a:lnSpc>
              <a:buFont typeface="Arial"/>
              <a:buChar char="•"/>
            </a:pPr>
            <a:r>
              <a:rPr lang="en-US" sz="3499">
                <a:solidFill>
                  <a:srgbClr val="000000"/>
                </a:solidFill>
                <a:latin typeface="Poppins"/>
                <a:ea typeface="Poppins"/>
                <a:cs typeface="Poppins"/>
                <a:sym typeface="Poppins"/>
              </a:rPr>
              <a:t>This hybrid setup ensures accuracy, low latency, and high reliability.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676131" y="445328"/>
            <a:ext cx="13491034" cy="1041051"/>
            <a:chOff x="0" y="0"/>
            <a:chExt cx="3553194" cy="274186"/>
          </a:xfrm>
        </p:grpSpPr>
        <p:sp>
          <p:nvSpPr>
            <p:cNvPr id="3" name="Freeform 3"/>
            <p:cNvSpPr/>
            <p:nvPr/>
          </p:nvSpPr>
          <p:spPr>
            <a:xfrm>
              <a:off x="0" y="0"/>
              <a:ext cx="3553194" cy="274186"/>
            </a:xfrm>
            <a:custGeom>
              <a:avLst/>
              <a:gdLst/>
              <a:ahLst/>
              <a:cxnLst/>
              <a:rect l="l" t="t" r="r" b="b"/>
              <a:pathLst>
                <a:path w="3553194" h="274186">
                  <a:moveTo>
                    <a:pt x="29267" y="0"/>
                  </a:moveTo>
                  <a:lnTo>
                    <a:pt x="3523928" y="0"/>
                  </a:lnTo>
                  <a:cubicBezTo>
                    <a:pt x="3531690" y="0"/>
                    <a:pt x="3539134" y="3083"/>
                    <a:pt x="3544622" y="8572"/>
                  </a:cubicBezTo>
                  <a:cubicBezTo>
                    <a:pt x="3550111" y="14061"/>
                    <a:pt x="3553194" y="21505"/>
                    <a:pt x="3553194" y="29267"/>
                  </a:cubicBezTo>
                  <a:lnTo>
                    <a:pt x="3553194" y="244919"/>
                  </a:lnTo>
                  <a:cubicBezTo>
                    <a:pt x="3553194" y="252681"/>
                    <a:pt x="3550111" y="260126"/>
                    <a:pt x="3544622" y="265614"/>
                  </a:cubicBezTo>
                  <a:cubicBezTo>
                    <a:pt x="3539134" y="271103"/>
                    <a:pt x="3531690" y="274186"/>
                    <a:pt x="3523928" y="274186"/>
                  </a:cubicBezTo>
                  <a:lnTo>
                    <a:pt x="29267" y="274186"/>
                  </a:lnTo>
                  <a:cubicBezTo>
                    <a:pt x="21505" y="274186"/>
                    <a:pt x="14061" y="271103"/>
                    <a:pt x="8572" y="265614"/>
                  </a:cubicBezTo>
                  <a:cubicBezTo>
                    <a:pt x="3083" y="260126"/>
                    <a:pt x="0" y="252681"/>
                    <a:pt x="0" y="244919"/>
                  </a:cubicBezTo>
                  <a:lnTo>
                    <a:pt x="0" y="29267"/>
                  </a:lnTo>
                  <a:cubicBezTo>
                    <a:pt x="0" y="21505"/>
                    <a:pt x="3083" y="14061"/>
                    <a:pt x="8572" y="8572"/>
                  </a:cubicBezTo>
                  <a:cubicBezTo>
                    <a:pt x="14061" y="3083"/>
                    <a:pt x="21505" y="0"/>
                    <a:pt x="29267" y="0"/>
                  </a:cubicBezTo>
                  <a:close/>
                </a:path>
              </a:pathLst>
            </a:custGeom>
            <a:solidFill>
              <a:srgbClr val="AAD7D4"/>
            </a:solidFill>
          </p:spPr>
        </p:sp>
        <p:sp>
          <p:nvSpPr>
            <p:cNvPr id="4" name="TextBox 4"/>
            <p:cNvSpPr txBox="1"/>
            <p:nvPr/>
          </p:nvSpPr>
          <p:spPr>
            <a:xfrm>
              <a:off x="0" y="-38100"/>
              <a:ext cx="3553194" cy="312286"/>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028700" y="2544690"/>
            <a:ext cx="16430793" cy="6238485"/>
          </a:xfrm>
          <a:custGeom>
            <a:avLst/>
            <a:gdLst/>
            <a:ahLst/>
            <a:cxnLst/>
            <a:rect l="l" t="t" r="r" b="b"/>
            <a:pathLst>
              <a:path w="16430793" h="6238485">
                <a:moveTo>
                  <a:pt x="0" y="0"/>
                </a:moveTo>
                <a:lnTo>
                  <a:pt x="16430793" y="0"/>
                </a:lnTo>
                <a:lnTo>
                  <a:pt x="16430793" y="6238485"/>
                </a:lnTo>
                <a:lnTo>
                  <a:pt x="0" y="6238485"/>
                </a:lnTo>
                <a:lnTo>
                  <a:pt x="0" y="0"/>
                </a:lnTo>
                <a:close/>
              </a:path>
            </a:pathLst>
          </a:custGeom>
          <a:blipFill>
            <a:blip r:embed="rId2"/>
            <a:stretch>
              <a:fillRect t="-1071"/>
            </a:stretch>
          </a:blipFill>
        </p:spPr>
      </p:sp>
      <p:sp>
        <p:nvSpPr>
          <p:cNvPr id="6" name="TextBox 6"/>
          <p:cNvSpPr txBox="1"/>
          <p:nvPr/>
        </p:nvSpPr>
        <p:spPr>
          <a:xfrm>
            <a:off x="2676131" y="759460"/>
            <a:ext cx="12935737" cy="481331"/>
          </a:xfrm>
          <a:prstGeom prst="rect">
            <a:avLst/>
          </a:prstGeom>
        </p:spPr>
        <p:txBody>
          <a:bodyPr lIns="0" tIns="0" rIns="0" bIns="0" rtlCol="0" anchor="t">
            <a:spAutoFit/>
          </a:bodyPr>
          <a:lstStyle/>
          <a:p>
            <a:pPr algn="ctr">
              <a:lnSpc>
                <a:spcPts val="3919"/>
              </a:lnSpc>
              <a:spcBef>
                <a:spcPct val="0"/>
              </a:spcBef>
            </a:pPr>
            <a:r>
              <a:rPr lang="en-US" sz="2799" b="1">
                <a:solidFill>
                  <a:srgbClr val="000000"/>
                </a:solidFill>
                <a:latin typeface="DM Sans Bold"/>
                <a:ea typeface="DM Sans Bold"/>
                <a:cs typeface="DM Sans Bold"/>
                <a:sym typeface="DM Sans Bold"/>
              </a:rPr>
              <a:t>Traffic Signal Prediction at the Edge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941</Words>
  <Application>Microsoft Office PowerPoint</Application>
  <PresentationFormat>Custom</PresentationFormat>
  <Paragraphs>110</Paragraphs>
  <Slides>15</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15</vt:i4>
      </vt:variant>
    </vt:vector>
  </HeadingPairs>
  <TitlesOfParts>
    <vt:vector size="27" baseType="lpstr">
      <vt:lpstr>Poppins Semi-Bold</vt:lpstr>
      <vt:lpstr>Calibri</vt:lpstr>
      <vt:lpstr>Arial</vt:lpstr>
      <vt:lpstr>DM Sans Bold</vt:lpstr>
      <vt:lpstr>Canva Sans Bold</vt:lpstr>
      <vt:lpstr>DM Sans</vt:lpstr>
      <vt:lpstr>Poppins</vt:lpstr>
      <vt:lpstr>Open Sans Light</vt:lpstr>
      <vt:lpstr>Poppins Bold</vt:lpstr>
      <vt:lpstr>Open Sans Bold</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Minimalist Project Presentation</dc:title>
  <cp:lastModifiedBy>Sampreeth Chirla</cp:lastModifiedBy>
  <cp:revision>2</cp:revision>
  <dcterms:created xsi:type="dcterms:W3CDTF">2006-08-16T00:00:00Z</dcterms:created>
  <dcterms:modified xsi:type="dcterms:W3CDTF">2025-09-20T04:42:12Z</dcterms:modified>
  <dc:identifier>DAGypCtpMtc</dc:identifier>
</cp:coreProperties>
</file>